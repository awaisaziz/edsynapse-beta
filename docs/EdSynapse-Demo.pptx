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4" r:id="rId2"/>
    <p:sldId id="257" r:id="rId3"/>
    <p:sldId id="259" r:id="rId4"/>
    <p:sldId id="258" r:id="rId5"/>
    <p:sldId id="271" r:id="rId6"/>
    <p:sldId id="273" r:id="rId7"/>
    <p:sldId id="260" r:id="rId8"/>
    <p:sldId id="26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9822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Hi, I'm Awais. This is EdSynapse, my Open Innovation submission: a personalized AI tutor that adapts to how each learner learns and grounds every lesson in their own uploaded material. It's live on Vercel, backed by Amazon Aurora with pgvector.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 The problem: learning is one-size-fits-all, and generic AI tutors make it worse — they hallucinate and ignore your actual material. EdSynapse is for two people: the student learning from a class or their own uploads, and the teacher who needs to see where the whole cohort is stuck. I chose this because understanding only sticks when it's grounded in your own material, adapts to how you learn, and checks understanding as it goes.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1:15-2:40 — LIVE DEMO (screen recording). Walk it in this order: (1) As a teacher, create a course, show the join code, upload a PDF — mention it's parsed, chunked, embedded into Aurora/pgvector. (2) As a student, join by code, take the diagnostic, show the strengths &amp; gaps map. (3) Open the AI Tutor — ask something answerable from the uploaded file and point out the source citations appear (grounding). (4) Take the assessment, show it grading and updating the knowledge map, then flip to the teacher analytics. Keep this section the longest.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0:45-1:15 — Here's the architecture. A request hits Vercel's edge gate, then a serverless function, which talks to Amazon Aurora. The key choice: Aurora with pgvector does BOTH jobs in one database — it stores the relational app data AND the RAG vectors for grounding, so there's no second vector system to run or sync. And there's no database password anywhere: Vercel's OIDC identity mints a short-lived AWS IAM token for every connection. Below Vercel are the external services — OpenAI for chat and embeddings, Resend for email, and the Google feedback form.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2:40-2:52 — EdSynapse is launching as a free one-month beta, so feedback drives the roadmap. There's a Share Feedback link on every page that opens this Google Form — it's role-aware and anonymous, and it asks what worked, what broke, and what to build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2:52-3:00 — That's EdSynapse: personalized, grounded AI tutoring built on Vercel and Amazon Aurora. Thanks for watching — the live app link is on screen.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a:effectLst/>
      </p:bgPr>
    </p:bg>
    <p:spTree>
      <p:nvGrpSpPr>
        <p:cNvPr id="1" name=""/>
        <p:cNvGrpSpPr/>
        <p:nvPr/>
      </p:nvGrpSpPr>
      <p:grpSpPr>
        <a:xfrm>
          <a:off x="0" y="0"/>
          <a:ext cx="0" cy="0"/>
          <a:chOff x="0" y="0"/>
          <a:chExt cx="0" cy="0"/>
        </a:xfrm>
      </p:grpSpPr>
      <p:sp>
        <p:nvSpPr>
          <p:cNvPr id="2" name="Shape 0"/>
          <p:cNvSpPr/>
          <p:nvPr/>
        </p:nvSpPr>
        <p:spPr>
          <a:xfrm>
            <a:off x="8595360" y="-2377440"/>
            <a:ext cx="6858000" cy="6858000"/>
          </a:xfrm>
          <a:prstGeom prst="ellipse">
            <a:avLst/>
          </a:prstGeom>
          <a:solidFill>
            <a:srgbClr val="24489E"/>
          </a:solidFill>
          <a:ln/>
        </p:spPr>
        <p:txBody>
          <a:bodyPr/>
          <a:lstStyle/>
          <a:p>
            <a:endParaRPr lang="en-CA"/>
          </a:p>
        </p:txBody>
      </p:sp>
      <p:sp>
        <p:nvSpPr>
          <p:cNvPr id="3" name="Shape 1"/>
          <p:cNvSpPr/>
          <p:nvPr/>
        </p:nvSpPr>
        <p:spPr>
          <a:xfrm>
            <a:off x="10241280" y="3291840"/>
            <a:ext cx="5029200" cy="5029200"/>
          </a:xfrm>
          <a:prstGeom prst="ellipse">
            <a:avLst/>
          </a:prstGeom>
          <a:solidFill>
            <a:srgbClr val="16307A"/>
          </a:solidFill>
          <a:ln/>
        </p:spPr>
        <p:txBody>
          <a:bodyPr/>
          <a:lstStyle/>
          <a:p>
            <a:endParaRPr lang="en-CA"/>
          </a:p>
        </p:txBody>
      </p:sp>
      <p:sp>
        <p:nvSpPr>
          <p:cNvPr id="4" name="Text 2"/>
          <p:cNvSpPr/>
          <p:nvPr/>
        </p:nvSpPr>
        <p:spPr>
          <a:xfrm>
            <a:off x="822960" y="868680"/>
            <a:ext cx="10058400" cy="365760"/>
          </a:xfrm>
          <a:prstGeom prst="rect">
            <a:avLst/>
          </a:prstGeom>
          <a:noFill/>
          <a:ln/>
        </p:spPr>
        <p:txBody>
          <a:bodyPr wrap="square" lIns="0" tIns="0" rIns="0" bIns="0" rtlCol="0" anchor="ctr"/>
          <a:lstStyle/>
          <a:p>
            <a:pPr marL="0" indent="0">
              <a:buNone/>
            </a:pPr>
            <a:r>
              <a:rPr lang="en-US" sz="1400" b="1" kern="0" spc="200" dirty="0">
                <a:solidFill>
                  <a:srgbClr val="BFDBFE"/>
                </a:solidFill>
                <a:latin typeface="Calibri" pitchFamily="34" charset="0"/>
                <a:ea typeface="Calibri" pitchFamily="34" charset="-122"/>
                <a:cs typeface="Calibri" pitchFamily="34" charset="-120"/>
              </a:rPr>
              <a:t>H0 HACKATHON  ·  TRACK 4 — OPEN INNOVATION</a:t>
            </a:r>
            <a:endParaRPr lang="en-US" sz="1400" dirty="0"/>
          </a:p>
        </p:txBody>
      </p:sp>
      <p:sp>
        <p:nvSpPr>
          <p:cNvPr id="5" name="Text 3"/>
          <p:cNvSpPr/>
          <p:nvPr/>
        </p:nvSpPr>
        <p:spPr>
          <a:xfrm>
            <a:off x="777240" y="1554480"/>
            <a:ext cx="10515600" cy="1280160"/>
          </a:xfrm>
          <a:prstGeom prst="rect">
            <a:avLst/>
          </a:prstGeom>
          <a:noFill/>
          <a:ln/>
        </p:spPr>
        <p:txBody>
          <a:bodyPr wrap="square" lIns="0" tIns="0" rIns="0" bIns="0"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EdSynapse</a:t>
            </a:r>
            <a:endParaRPr lang="en-US" sz="7200" dirty="0"/>
          </a:p>
        </p:txBody>
      </p:sp>
      <p:sp>
        <p:nvSpPr>
          <p:cNvPr id="6" name="Text 4"/>
          <p:cNvSpPr/>
          <p:nvPr/>
        </p:nvSpPr>
        <p:spPr>
          <a:xfrm>
            <a:off x="822960" y="2788920"/>
            <a:ext cx="8229600" cy="914400"/>
          </a:xfrm>
          <a:prstGeom prst="rect">
            <a:avLst/>
          </a:prstGeom>
          <a:noFill/>
          <a:ln/>
        </p:spPr>
        <p:txBody>
          <a:bodyPr wrap="square" lIns="0" tIns="0" rIns="0" bIns="0" rtlCol="0" anchor="ctr"/>
          <a:lstStyle/>
          <a:p>
            <a:pPr marL="0" indent="0">
              <a:buNone/>
            </a:pPr>
            <a:r>
              <a:rPr lang="en-US" sz="2100" dirty="0">
                <a:solidFill>
                  <a:srgbClr val="DCE7FF"/>
                </a:solidFill>
                <a:latin typeface="Calibri" pitchFamily="34" charset="0"/>
                <a:ea typeface="Calibri" pitchFamily="34" charset="-122"/>
                <a:cs typeface="Calibri" pitchFamily="34" charset="-120"/>
              </a:rPr>
              <a:t>An AI tutor that adapts to how you learn — and grounds every lesson in your own material.</a:t>
            </a:r>
            <a:endParaRPr lang="en-US" sz="2100" dirty="0"/>
          </a:p>
        </p:txBody>
      </p:sp>
      <p:sp>
        <p:nvSpPr>
          <p:cNvPr id="7" name="Shape 5"/>
          <p:cNvSpPr/>
          <p:nvPr/>
        </p:nvSpPr>
        <p:spPr>
          <a:xfrm>
            <a:off x="822960" y="3886200"/>
            <a:ext cx="2788920" cy="384048"/>
          </a:xfrm>
          <a:prstGeom prst="roundRect">
            <a:avLst>
              <a:gd name="adj" fmla="val 50000"/>
            </a:avLst>
          </a:prstGeom>
          <a:solidFill>
            <a:srgbClr val="2C4FA0"/>
          </a:solidFill>
          <a:ln/>
        </p:spPr>
        <p:txBody>
          <a:bodyPr/>
          <a:lstStyle/>
          <a:p>
            <a:endParaRPr lang="en-CA"/>
          </a:p>
        </p:txBody>
      </p:sp>
      <p:sp>
        <p:nvSpPr>
          <p:cNvPr id="8" name="Text 6"/>
          <p:cNvSpPr/>
          <p:nvPr/>
        </p:nvSpPr>
        <p:spPr>
          <a:xfrm>
            <a:off x="822960" y="3886200"/>
            <a:ext cx="27889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Vercel  ·  Serverless + Edge</a:t>
            </a:r>
            <a:endParaRPr lang="en-US" sz="1250" dirty="0"/>
          </a:p>
        </p:txBody>
      </p:sp>
      <p:sp>
        <p:nvSpPr>
          <p:cNvPr id="9" name="Shape 7"/>
          <p:cNvSpPr/>
          <p:nvPr/>
        </p:nvSpPr>
        <p:spPr>
          <a:xfrm>
            <a:off x="3794760" y="3886200"/>
            <a:ext cx="3337560" cy="384048"/>
          </a:xfrm>
          <a:prstGeom prst="roundRect">
            <a:avLst>
              <a:gd name="adj" fmla="val 50000"/>
            </a:avLst>
          </a:prstGeom>
          <a:solidFill>
            <a:srgbClr val="FF9900"/>
          </a:solidFill>
          <a:ln/>
        </p:spPr>
        <p:txBody>
          <a:bodyPr/>
          <a:lstStyle/>
          <a:p>
            <a:endParaRPr lang="en-CA"/>
          </a:p>
        </p:txBody>
      </p:sp>
      <p:sp>
        <p:nvSpPr>
          <p:cNvPr id="10" name="Text 8"/>
          <p:cNvSpPr/>
          <p:nvPr/>
        </p:nvSpPr>
        <p:spPr>
          <a:xfrm>
            <a:off x="3794760" y="3886200"/>
            <a:ext cx="3337560" cy="384048"/>
          </a:xfrm>
          <a:prstGeom prst="rect">
            <a:avLst/>
          </a:prstGeom>
          <a:noFill/>
          <a:ln/>
        </p:spPr>
        <p:txBody>
          <a:bodyPr wrap="square" lIns="0" tIns="0" rIns="0" bIns="0" rtlCol="0" anchor="ctr"/>
          <a:lstStyle/>
          <a:p>
            <a:pPr marL="0" indent="0" algn="ctr">
              <a:buNone/>
            </a:pPr>
            <a:r>
              <a:rPr lang="en-US" sz="1250" b="1" dirty="0">
                <a:solidFill>
                  <a:srgbClr val="232F3E"/>
                </a:solidFill>
                <a:latin typeface="Calibri" pitchFamily="34" charset="0"/>
                <a:ea typeface="Calibri" pitchFamily="34" charset="-122"/>
                <a:cs typeface="Calibri" pitchFamily="34" charset="-120"/>
              </a:rPr>
              <a:t>Amazon Aurora + pgvector</a:t>
            </a:r>
            <a:endParaRPr lang="en-US" sz="1250" dirty="0"/>
          </a:p>
        </p:txBody>
      </p:sp>
      <p:sp>
        <p:nvSpPr>
          <p:cNvPr id="11" name="Shape 9"/>
          <p:cNvSpPr/>
          <p:nvPr/>
        </p:nvSpPr>
        <p:spPr>
          <a:xfrm>
            <a:off x="7315200" y="3886200"/>
            <a:ext cx="2331720" cy="384048"/>
          </a:xfrm>
          <a:prstGeom prst="roundRect">
            <a:avLst>
              <a:gd name="adj" fmla="val 50000"/>
            </a:avLst>
          </a:prstGeom>
          <a:solidFill>
            <a:srgbClr val="2C4FA0"/>
          </a:solidFill>
          <a:ln/>
        </p:spPr>
        <p:txBody>
          <a:bodyPr/>
          <a:lstStyle/>
          <a:p>
            <a:endParaRPr lang="en-CA"/>
          </a:p>
        </p:txBody>
      </p:sp>
      <p:sp>
        <p:nvSpPr>
          <p:cNvPr id="12" name="Text 10"/>
          <p:cNvSpPr/>
          <p:nvPr/>
        </p:nvSpPr>
        <p:spPr>
          <a:xfrm>
            <a:off x="7315200" y="3886200"/>
            <a:ext cx="23317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OpenAI  ·  RAG tutor</a:t>
            </a:r>
            <a:endParaRPr lang="en-US" sz="1250" dirty="0"/>
          </a:p>
        </p:txBody>
      </p:sp>
      <p:sp>
        <p:nvSpPr>
          <p:cNvPr id="13" name="Text 11"/>
          <p:cNvSpPr/>
          <p:nvPr/>
        </p:nvSpPr>
        <p:spPr>
          <a:xfrm>
            <a:off x="822960" y="4892040"/>
            <a:ext cx="10058400" cy="411480"/>
          </a:xfrm>
          <a:prstGeom prst="rect">
            <a:avLst/>
          </a:prstGeom>
          <a:noFill/>
          <a:ln/>
        </p:spPr>
        <p:txBody>
          <a:bodyPr wrap="square" lIns="0" tIns="0" rIns="0" bIns="0" rtlCol="0" anchor="ctr"/>
          <a:lstStyle/>
          <a:p>
            <a:pPr marL="0" indent="0">
              <a:buNone/>
            </a:pPr>
            <a:r>
              <a:rPr lang="en-US" sz="1700" b="1" dirty="0">
                <a:solidFill>
                  <a:srgbClr val="BFDBFE"/>
                </a:solidFill>
                <a:latin typeface="Calibri" pitchFamily="34" charset="0"/>
                <a:ea typeface="Calibri" pitchFamily="34" charset="-122"/>
                <a:cs typeface="Calibri" pitchFamily="34" charset="-120"/>
              </a:rPr>
              <a:t>Live:  </a:t>
            </a:r>
            <a:r>
              <a:rPr lang="en-US" sz="1700" dirty="0">
                <a:solidFill>
                  <a:srgbClr val="FFFFFF"/>
                </a:solidFill>
                <a:latin typeface="Calibri" pitchFamily="34" charset="0"/>
                <a:ea typeface="Calibri" pitchFamily="34" charset="-122"/>
                <a:cs typeface="Calibri" pitchFamily="34" charset="-120"/>
              </a:rPr>
              <a:t>https://edsynapse.com</a:t>
            </a:r>
            <a:endParaRPr lang="en-US" sz="1700" dirty="0"/>
          </a:p>
        </p:txBody>
      </p:sp>
      <p:sp>
        <p:nvSpPr>
          <p:cNvPr id="14" name="Text 12"/>
          <p:cNvSpPr/>
          <p:nvPr/>
        </p:nvSpPr>
        <p:spPr>
          <a:xfrm>
            <a:off x="822960" y="5440680"/>
            <a:ext cx="10058400" cy="365760"/>
          </a:xfrm>
          <a:prstGeom prst="rect">
            <a:avLst/>
          </a:prstGeom>
          <a:noFill/>
          <a:ln/>
        </p:spPr>
        <p:txBody>
          <a:bodyPr wrap="square" lIns="0" tIns="0" rIns="0" bIns="0" rtlCol="0" anchor="ctr"/>
          <a:lstStyle/>
          <a:p>
            <a:pPr marL="0" indent="0">
              <a:buNone/>
            </a:pPr>
            <a:r>
              <a:rPr lang="en-US" sz="1500" i="1" dirty="0">
                <a:solidFill>
                  <a:srgbClr val="B9C9EE"/>
                </a:solidFill>
                <a:latin typeface="Calibri" pitchFamily="34" charset="0"/>
                <a:ea typeface="Calibri" pitchFamily="34" charset="-122"/>
                <a:cs typeface="Calibri" pitchFamily="34" charset="-120"/>
              </a:rPr>
              <a:t>Presented by Awais Aziz</a:t>
            </a:r>
            <a:endParaRPr lang="en-US" sz="1500" dirty="0"/>
          </a:p>
        </p:txBody>
      </p:sp>
      <p:pic>
        <p:nvPicPr>
          <p:cNvPr id="16" name="Picture 15">
            <a:extLst>
              <a:ext uri="{FF2B5EF4-FFF2-40B4-BE49-F238E27FC236}">
                <a16:creationId xmlns:a16="http://schemas.microsoft.com/office/drawing/2014/main" id="{F6335254-903C-1DC2-C00C-EF0B1666F560}"/>
              </a:ext>
            </a:extLst>
          </p:cNvPr>
          <p:cNvPicPr>
            <a:picLocks noChangeAspect="1"/>
          </p:cNvPicPr>
          <p:nvPr/>
        </p:nvPicPr>
        <p:blipFill>
          <a:blip r:embed="rId3"/>
          <a:srcRect l="8800" t="8800" r="8800" b="8800"/>
          <a:stretch>
            <a:fillRect/>
          </a:stretch>
        </p:blipFill>
        <p:spPr>
          <a:xfrm>
            <a:off x="8887697" y="242456"/>
            <a:ext cx="3200400" cy="3200400"/>
          </a:xfrm>
          <a:prstGeom prst="ellipse">
            <a:avLst/>
          </a:prstGeom>
        </p:spPr>
      </p:pic>
    </p:spTree>
    <p:extLst>
      <p:ext uri="{BB962C8B-B14F-4D97-AF65-F5344CB8AC3E}">
        <p14:creationId xmlns:p14="http://schemas.microsoft.com/office/powerpoint/2010/main" val="2332906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lIns="0" tIns="0" rIns="0" bIns="0" rtlCol="0" anchor="ctr"/>
          <a:lstStyle/>
          <a:p>
            <a:pPr marL="0" indent="0">
              <a:buNone/>
            </a:pPr>
            <a:r>
              <a:rPr lang="en-US" sz="3800" b="1" dirty="0">
                <a:solidFill>
                  <a:srgbClr val="1E3A8A"/>
                </a:solidFill>
                <a:latin typeface="Cambria" pitchFamily="34" charset="0"/>
                <a:ea typeface="Cambria" pitchFamily="34" charset="-122"/>
                <a:cs typeface="Cambria" pitchFamily="34" charset="-120"/>
              </a:rPr>
              <a:t>The problem</a:t>
            </a:r>
            <a:endParaRPr lang="en-US" sz="3800" dirty="0"/>
          </a:p>
        </p:txBody>
      </p:sp>
      <p:sp>
        <p:nvSpPr>
          <p:cNvPr id="3" name="Text 1"/>
          <p:cNvSpPr/>
          <p:nvPr/>
        </p:nvSpPr>
        <p:spPr>
          <a:xfrm>
            <a:off x="566928" y="1115568"/>
            <a:ext cx="10972800" cy="457200"/>
          </a:xfrm>
          <a:prstGeom prst="rect">
            <a:avLst/>
          </a:prstGeom>
          <a:noFill/>
          <a:ln/>
        </p:spPr>
        <p:txBody>
          <a:bodyPr wrap="square" lIns="0" tIns="0" rIns="0" bIns="0" rtlCol="0" anchor="ctr"/>
          <a:lstStyle/>
          <a:p>
            <a:pPr marL="0" indent="0">
              <a:buNone/>
            </a:pPr>
            <a:r>
              <a:rPr lang="en-US" sz="1800" dirty="0">
                <a:solidFill>
                  <a:srgbClr val="5B6B86"/>
                </a:solidFill>
                <a:latin typeface="Calibri" pitchFamily="34" charset="0"/>
                <a:ea typeface="Calibri" pitchFamily="34" charset="-122"/>
                <a:cs typeface="Calibri" pitchFamily="34" charset="-120"/>
              </a:rPr>
              <a:t>Learning is one-size-fits-all, and generic AI tutors make it worse.</a:t>
            </a:r>
            <a:endParaRPr lang="en-US" sz="1800" dirty="0"/>
          </a:p>
        </p:txBody>
      </p:sp>
      <p:sp>
        <p:nvSpPr>
          <p:cNvPr id="4" name="Shape 2"/>
          <p:cNvSpPr/>
          <p:nvPr/>
        </p:nvSpPr>
        <p:spPr>
          <a:xfrm>
            <a:off x="548640" y="1828800"/>
            <a:ext cx="3611880" cy="3840480"/>
          </a:xfrm>
          <a:prstGeom prst="roundRect">
            <a:avLst>
              <a:gd name="adj" fmla="val 3038"/>
            </a:avLst>
          </a:prstGeom>
          <a:solidFill>
            <a:srgbClr val="F0F6FF"/>
          </a:solidFill>
          <a:ln/>
          <a:effectLst>
            <a:outerShdw blurRad="88900" dist="25400" dir="5400000" algn="bl" rotWithShape="0">
              <a:srgbClr val="1E293B">
                <a:alpha val="12000"/>
              </a:srgbClr>
            </a:outerShdw>
          </a:effectLst>
        </p:spPr>
        <p:txBody>
          <a:bodyPr/>
          <a:lstStyle/>
          <a:p>
            <a:endParaRPr lang="en-CA"/>
          </a:p>
        </p:txBody>
      </p:sp>
      <p:sp>
        <p:nvSpPr>
          <p:cNvPr id="5" name="Shape 3"/>
          <p:cNvSpPr/>
          <p:nvPr/>
        </p:nvSpPr>
        <p:spPr>
          <a:xfrm>
            <a:off x="868680" y="2148840"/>
            <a:ext cx="1234440" cy="384048"/>
          </a:xfrm>
          <a:prstGeom prst="roundRect">
            <a:avLst>
              <a:gd name="adj" fmla="val 50000"/>
            </a:avLst>
          </a:prstGeom>
          <a:solidFill>
            <a:srgbClr val="3B82F6"/>
          </a:solidFill>
          <a:ln/>
        </p:spPr>
        <p:txBody>
          <a:bodyPr/>
          <a:lstStyle/>
          <a:p>
            <a:endParaRPr lang="en-CA"/>
          </a:p>
        </p:txBody>
      </p:sp>
      <p:sp>
        <p:nvSpPr>
          <p:cNvPr id="6" name="Text 4"/>
          <p:cNvSpPr/>
          <p:nvPr/>
        </p:nvSpPr>
        <p:spPr>
          <a:xfrm>
            <a:off x="868680" y="2148840"/>
            <a:ext cx="12344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WHAT</a:t>
            </a:r>
            <a:endParaRPr lang="en-US" sz="1250" dirty="0"/>
          </a:p>
        </p:txBody>
      </p:sp>
      <p:sp>
        <p:nvSpPr>
          <p:cNvPr id="7" name="Text 5"/>
          <p:cNvSpPr/>
          <p:nvPr/>
        </p:nvSpPr>
        <p:spPr>
          <a:xfrm>
            <a:off x="868680" y="2743200"/>
            <a:ext cx="2971800" cy="868680"/>
          </a:xfrm>
          <a:prstGeom prst="rect">
            <a:avLst/>
          </a:prstGeom>
          <a:noFill/>
          <a:ln/>
        </p:spPr>
        <p:txBody>
          <a:bodyPr wrap="square" lIns="0" tIns="0" rIns="0" bIns="0" rtlCol="0" anchor="t"/>
          <a:lstStyle/>
          <a:p>
            <a:pPr marL="0" indent="0">
              <a:buNone/>
            </a:pPr>
            <a:r>
              <a:rPr lang="en-US" sz="2200" b="1" dirty="0">
                <a:solidFill>
                  <a:srgbClr val="0F172A"/>
                </a:solidFill>
                <a:latin typeface="Cambria" pitchFamily="34" charset="0"/>
                <a:ea typeface="Cambria" pitchFamily="34" charset="-122"/>
                <a:cs typeface="Cambria" pitchFamily="34" charset="-120"/>
              </a:rPr>
              <a:t>Generic, ungrounded tutoring</a:t>
            </a:r>
            <a:endParaRPr lang="en-US" sz="2200" dirty="0"/>
          </a:p>
        </p:txBody>
      </p:sp>
      <p:sp>
        <p:nvSpPr>
          <p:cNvPr id="8" name="Text 6"/>
          <p:cNvSpPr/>
          <p:nvPr/>
        </p:nvSpPr>
        <p:spPr>
          <a:xfrm>
            <a:off x="868680" y="3703320"/>
            <a:ext cx="2971800" cy="1737360"/>
          </a:xfrm>
          <a:prstGeom prst="rect">
            <a:avLst/>
          </a:prstGeom>
          <a:noFill/>
          <a:ln/>
        </p:spPr>
        <p:txBody>
          <a:bodyPr wrap="square" lIns="0" tIns="0" rIns="0" bIns="0" rtlCol="0" anchor="t"/>
          <a:lstStyle/>
          <a:p>
            <a:pPr marL="0" indent="0">
              <a:lnSpc>
                <a:spcPct val="112000"/>
              </a:lnSpc>
              <a:buNone/>
            </a:pPr>
            <a:r>
              <a:rPr lang="en-US" sz="1550" dirty="0">
                <a:solidFill>
                  <a:srgbClr val="33425B"/>
                </a:solidFill>
                <a:latin typeface="Calibri" pitchFamily="34" charset="0"/>
                <a:ea typeface="Calibri" pitchFamily="34" charset="-122"/>
                <a:cs typeface="Calibri" pitchFamily="34" charset="-120"/>
              </a:rPr>
              <a:t>Off-the-shelf AI tutors ignore the learner's actual course material and invent facts. Classrooms move at one pace for everyone.</a:t>
            </a:r>
            <a:endParaRPr lang="en-US" sz="1550" dirty="0"/>
          </a:p>
        </p:txBody>
      </p:sp>
      <p:sp>
        <p:nvSpPr>
          <p:cNvPr id="9" name="Shape 7"/>
          <p:cNvSpPr/>
          <p:nvPr/>
        </p:nvSpPr>
        <p:spPr>
          <a:xfrm>
            <a:off x="4407408" y="1828800"/>
            <a:ext cx="3611880" cy="3840480"/>
          </a:xfrm>
          <a:prstGeom prst="roundRect">
            <a:avLst>
              <a:gd name="adj" fmla="val 3038"/>
            </a:avLst>
          </a:prstGeom>
          <a:solidFill>
            <a:srgbClr val="F0F6FF"/>
          </a:solidFill>
          <a:ln/>
          <a:effectLst>
            <a:outerShdw blurRad="88900" dist="25400" dir="5400000" algn="bl" rotWithShape="0">
              <a:srgbClr val="1E293B">
                <a:alpha val="12000"/>
              </a:srgbClr>
            </a:outerShdw>
          </a:effectLst>
        </p:spPr>
        <p:txBody>
          <a:bodyPr/>
          <a:lstStyle/>
          <a:p>
            <a:endParaRPr lang="en-CA"/>
          </a:p>
        </p:txBody>
      </p:sp>
      <p:sp>
        <p:nvSpPr>
          <p:cNvPr id="10" name="Shape 8"/>
          <p:cNvSpPr/>
          <p:nvPr/>
        </p:nvSpPr>
        <p:spPr>
          <a:xfrm>
            <a:off x="4727448" y="2148840"/>
            <a:ext cx="1234440" cy="384048"/>
          </a:xfrm>
          <a:prstGeom prst="roundRect">
            <a:avLst>
              <a:gd name="adj" fmla="val 50000"/>
            </a:avLst>
          </a:prstGeom>
          <a:solidFill>
            <a:srgbClr val="1E3A8A"/>
          </a:solidFill>
          <a:ln/>
        </p:spPr>
        <p:txBody>
          <a:bodyPr/>
          <a:lstStyle/>
          <a:p>
            <a:endParaRPr lang="en-CA"/>
          </a:p>
        </p:txBody>
      </p:sp>
      <p:sp>
        <p:nvSpPr>
          <p:cNvPr id="11" name="Text 9"/>
          <p:cNvSpPr/>
          <p:nvPr/>
        </p:nvSpPr>
        <p:spPr>
          <a:xfrm>
            <a:off x="4727448" y="2148840"/>
            <a:ext cx="12344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WHO</a:t>
            </a:r>
            <a:endParaRPr lang="en-US" sz="1250" dirty="0"/>
          </a:p>
        </p:txBody>
      </p:sp>
      <p:sp>
        <p:nvSpPr>
          <p:cNvPr id="12" name="Text 10"/>
          <p:cNvSpPr/>
          <p:nvPr/>
        </p:nvSpPr>
        <p:spPr>
          <a:xfrm>
            <a:off x="4727448" y="2743200"/>
            <a:ext cx="2971800" cy="868680"/>
          </a:xfrm>
          <a:prstGeom prst="rect">
            <a:avLst/>
          </a:prstGeom>
          <a:noFill/>
          <a:ln/>
        </p:spPr>
        <p:txBody>
          <a:bodyPr wrap="square" lIns="0" tIns="0" rIns="0" bIns="0" rtlCol="0" anchor="t"/>
          <a:lstStyle/>
          <a:p>
            <a:pPr marL="0" indent="0">
              <a:buNone/>
            </a:pPr>
            <a:r>
              <a:rPr lang="en-US" sz="2200" b="1" dirty="0">
                <a:solidFill>
                  <a:srgbClr val="0F172A"/>
                </a:solidFill>
                <a:latin typeface="Cambria" pitchFamily="34" charset="0"/>
                <a:ea typeface="Cambria" pitchFamily="34" charset="-122"/>
                <a:cs typeface="Cambria" pitchFamily="34" charset="-120"/>
              </a:rPr>
              <a:t>Students &amp; teachers</a:t>
            </a:r>
            <a:endParaRPr lang="en-US" sz="2200" dirty="0"/>
          </a:p>
        </p:txBody>
      </p:sp>
      <p:sp>
        <p:nvSpPr>
          <p:cNvPr id="13" name="Text 11"/>
          <p:cNvSpPr/>
          <p:nvPr/>
        </p:nvSpPr>
        <p:spPr>
          <a:xfrm>
            <a:off x="4727448" y="3703320"/>
            <a:ext cx="2971800" cy="1737360"/>
          </a:xfrm>
          <a:prstGeom prst="rect">
            <a:avLst/>
          </a:prstGeom>
          <a:noFill/>
          <a:ln/>
        </p:spPr>
        <p:txBody>
          <a:bodyPr wrap="square" lIns="0" tIns="0" rIns="0" bIns="0" rtlCol="0" anchor="t"/>
          <a:lstStyle/>
          <a:p>
            <a:pPr marL="0" indent="0">
              <a:lnSpc>
                <a:spcPct val="112000"/>
              </a:lnSpc>
              <a:buNone/>
            </a:pPr>
            <a:r>
              <a:rPr lang="en-US" sz="1550" dirty="0">
                <a:solidFill>
                  <a:srgbClr val="33425B"/>
                </a:solidFill>
                <a:latin typeface="Calibri" pitchFamily="34" charset="0"/>
                <a:ea typeface="Calibri" pitchFamily="34" charset="-122"/>
                <a:cs typeface="Calibri" pitchFamily="34" charset="-120"/>
              </a:rPr>
              <a:t>Students learning from a class or their own uploads — and teachers who need to see where a whole cohort is struggling.</a:t>
            </a:r>
            <a:endParaRPr lang="en-US" sz="1550" dirty="0"/>
          </a:p>
        </p:txBody>
      </p:sp>
      <p:sp>
        <p:nvSpPr>
          <p:cNvPr id="14" name="Shape 12"/>
          <p:cNvSpPr/>
          <p:nvPr/>
        </p:nvSpPr>
        <p:spPr>
          <a:xfrm>
            <a:off x="8266176" y="1828800"/>
            <a:ext cx="3611880" cy="3840480"/>
          </a:xfrm>
          <a:prstGeom prst="roundRect">
            <a:avLst>
              <a:gd name="adj" fmla="val 3038"/>
            </a:avLst>
          </a:prstGeom>
          <a:solidFill>
            <a:srgbClr val="F0F6FF"/>
          </a:solidFill>
          <a:ln/>
          <a:effectLst>
            <a:outerShdw blurRad="88900" dist="25400" dir="5400000" algn="bl" rotWithShape="0">
              <a:srgbClr val="1E293B">
                <a:alpha val="12000"/>
              </a:srgbClr>
            </a:outerShdw>
          </a:effectLst>
        </p:spPr>
        <p:txBody>
          <a:bodyPr/>
          <a:lstStyle/>
          <a:p>
            <a:endParaRPr lang="en-CA"/>
          </a:p>
        </p:txBody>
      </p:sp>
      <p:sp>
        <p:nvSpPr>
          <p:cNvPr id="15" name="Shape 13"/>
          <p:cNvSpPr/>
          <p:nvPr/>
        </p:nvSpPr>
        <p:spPr>
          <a:xfrm>
            <a:off x="8586216" y="2148840"/>
            <a:ext cx="1234440" cy="384048"/>
          </a:xfrm>
          <a:prstGeom prst="roundRect">
            <a:avLst>
              <a:gd name="adj" fmla="val 50000"/>
            </a:avLst>
          </a:prstGeom>
          <a:solidFill>
            <a:srgbClr val="16A34A"/>
          </a:solidFill>
          <a:ln/>
        </p:spPr>
        <p:txBody>
          <a:bodyPr/>
          <a:lstStyle/>
          <a:p>
            <a:endParaRPr lang="en-CA"/>
          </a:p>
        </p:txBody>
      </p:sp>
      <p:sp>
        <p:nvSpPr>
          <p:cNvPr id="16" name="Text 14"/>
          <p:cNvSpPr/>
          <p:nvPr/>
        </p:nvSpPr>
        <p:spPr>
          <a:xfrm>
            <a:off x="8586216" y="2148840"/>
            <a:ext cx="12344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WHY</a:t>
            </a:r>
            <a:endParaRPr lang="en-US" sz="1250" dirty="0"/>
          </a:p>
        </p:txBody>
      </p:sp>
      <p:sp>
        <p:nvSpPr>
          <p:cNvPr id="17" name="Text 15"/>
          <p:cNvSpPr/>
          <p:nvPr/>
        </p:nvSpPr>
        <p:spPr>
          <a:xfrm>
            <a:off x="8586216" y="2743200"/>
            <a:ext cx="2971800" cy="868680"/>
          </a:xfrm>
          <a:prstGeom prst="rect">
            <a:avLst/>
          </a:prstGeom>
          <a:noFill/>
          <a:ln/>
        </p:spPr>
        <p:txBody>
          <a:bodyPr wrap="square" lIns="0" tIns="0" rIns="0" bIns="0" rtlCol="0" anchor="t"/>
          <a:lstStyle/>
          <a:p>
            <a:pPr marL="0" indent="0">
              <a:buNone/>
            </a:pPr>
            <a:r>
              <a:rPr lang="en-US" sz="2200" b="1" dirty="0">
                <a:solidFill>
                  <a:srgbClr val="0F172A"/>
                </a:solidFill>
                <a:latin typeface="Cambria" pitchFamily="34" charset="0"/>
                <a:ea typeface="Cambria" pitchFamily="34" charset="-122"/>
                <a:cs typeface="Cambria" pitchFamily="34" charset="-120"/>
              </a:rPr>
              <a:t>Understanding needs grounding</a:t>
            </a:r>
            <a:endParaRPr lang="en-US" sz="2200" dirty="0"/>
          </a:p>
        </p:txBody>
      </p:sp>
      <p:sp>
        <p:nvSpPr>
          <p:cNvPr id="18" name="Text 16"/>
          <p:cNvSpPr/>
          <p:nvPr/>
        </p:nvSpPr>
        <p:spPr>
          <a:xfrm>
            <a:off x="8586216" y="3703320"/>
            <a:ext cx="2971800" cy="1737360"/>
          </a:xfrm>
          <a:prstGeom prst="rect">
            <a:avLst/>
          </a:prstGeom>
          <a:noFill/>
          <a:ln/>
        </p:spPr>
        <p:txBody>
          <a:bodyPr wrap="square" lIns="0" tIns="0" rIns="0" bIns="0" rtlCol="0" anchor="t"/>
          <a:lstStyle/>
          <a:p>
            <a:pPr marL="0" indent="0">
              <a:lnSpc>
                <a:spcPct val="112000"/>
              </a:lnSpc>
              <a:buNone/>
            </a:pPr>
            <a:r>
              <a:rPr lang="en-US" sz="1550" dirty="0">
                <a:solidFill>
                  <a:srgbClr val="33425B"/>
                </a:solidFill>
                <a:latin typeface="Calibri" pitchFamily="34" charset="0"/>
                <a:ea typeface="Calibri" pitchFamily="34" charset="-122"/>
                <a:cs typeface="Calibri" pitchFamily="34" charset="-120"/>
              </a:rPr>
              <a:t>Learning sticks when it's tied to YOUR material, adapts to how you learn, and checks understanding as it goes — not after.</a:t>
            </a:r>
            <a:endParaRPr lang="en-US" sz="1550" dirty="0"/>
          </a:p>
        </p:txBody>
      </p:sp>
      <p:pic>
        <p:nvPicPr>
          <p:cNvPr id="19" name="Image 0" descr="EdSynapse logo"/>
          <p:cNvPicPr>
            <a:picLocks noChangeAspect="1"/>
          </p:cNvPicPr>
          <p:nvPr/>
        </p:nvPicPr>
        <p:blipFill>
          <a:blip r:embed="rId3"/>
          <a:stretch>
            <a:fillRect/>
          </a:stretch>
        </p:blipFill>
        <p:spPr>
          <a:xfrm>
            <a:off x="11265408" y="292608"/>
            <a:ext cx="640080" cy="640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E3A8A"/>
        </a:solidFill>
        <a:effectLst/>
      </p:bgPr>
    </p:bg>
    <p:spTree>
      <p:nvGrpSpPr>
        <p:cNvPr id="1" name=""/>
        <p:cNvGrpSpPr/>
        <p:nvPr/>
      </p:nvGrpSpPr>
      <p:grpSpPr>
        <a:xfrm>
          <a:off x="0" y="0"/>
          <a:ext cx="0" cy="0"/>
          <a:chOff x="0" y="0"/>
          <a:chExt cx="0" cy="0"/>
        </a:xfrm>
      </p:grpSpPr>
      <p:sp>
        <p:nvSpPr>
          <p:cNvPr id="2" name="Shape 0"/>
          <p:cNvSpPr/>
          <p:nvPr/>
        </p:nvSpPr>
        <p:spPr>
          <a:xfrm>
            <a:off x="-2286000" y="3108960"/>
            <a:ext cx="5943600" cy="5943600"/>
          </a:xfrm>
          <a:prstGeom prst="ellipse">
            <a:avLst/>
          </a:prstGeom>
          <a:solidFill>
            <a:srgbClr val="16307A"/>
          </a:solidFill>
          <a:ln/>
        </p:spPr>
        <p:txBody>
          <a:bodyPr/>
          <a:lstStyle/>
          <a:p>
            <a:endParaRPr lang="en-CA"/>
          </a:p>
        </p:txBody>
      </p:sp>
      <p:sp>
        <p:nvSpPr>
          <p:cNvPr id="3" name="Text 1"/>
          <p:cNvSpPr/>
          <p:nvPr/>
        </p:nvSpPr>
        <p:spPr>
          <a:xfrm>
            <a:off x="822960" y="868680"/>
            <a:ext cx="10058400" cy="457200"/>
          </a:xfrm>
          <a:prstGeom prst="rect">
            <a:avLst/>
          </a:prstGeom>
          <a:noFill/>
          <a:ln/>
        </p:spPr>
        <p:txBody>
          <a:bodyPr wrap="square" lIns="0" tIns="0" rIns="0" bIns="0" rtlCol="0" anchor="ctr"/>
          <a:lstStyle/>
          <a:p>
            <a:pPr marL="0" indent="0">
              <a:buNone/>
            </a:pPr>
            <a:r>
              <a:rPr lang="en-US" sz="1600" b="1" kern="0" spc="300" dirty="0">
                <a:solidFill>
                  <a:srgbClr val="BFDBFE"/>
                </a:solidFill>
                <a:latin typeface="Calibri" pitchFamily="34" charset="0"/>
                <a:ea typeface="Calibri" pitchFamily="34" charset="-122"/>
                <a:cs typeface="Calibri" pitchFamily="34" charset="-120"/>
              </a:rPr>
              <a:t>LIVE DEMO</a:t>
            </a:r>
            <a:endParaRPr lang="en-US" sz="1600" dirty="0"/>
          </a:p>
        </p:txBody>
      </p:sp>
      <p:sp>
        <p:nvSpPr>
          <p:cNvPr id="4" name="Text 2"/>
          <p:cNvSpPr/>
          <p:nvPr/>
        </p:nvSpPr>
        <p:spPr>
          <a:xfrm>
            <a:off x="777240" y="1371600"/>
            <a:ext cx="1051560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See it working</a:t>
            </a:r>
            <a:endParaRPr lang="en-US" sz="5000" dirty="0"/>
          </a:p>
        </p:txBody>
      </p:sp>
      <p:sp>
        <p:nvSpPr>
          <p:cNvPr id="5" name="Shape 3"/>
          <p:cNvSpPr/>
          <p:nvPr/>
        </p:nvSpPr>
        <p:spPr>
          <a:xfrm>
            <a:off x="868680" y="2697480"/>
            <a:ext cx="502920" cy="502920"/>
          </a:xfrm>
          <a:prstGeom prst="ellipse">
            <a:avLst/>
          </a:prstGeom>
          <a:solidFill>
            <a:srgbClr val="FF9900"/>
          </a:solidFill>
          <a:ln/>
        </p:spPr>
        <p:txBody>
          <a:bodyPr/>
          <a:lstStyle/>
          <a:p>
            <a:endParaRPr lang="en-CA"/>
          </a:p>
        </p:txBody>
      </p:sp>
      <p:sp>
        <p:nvSpPr>
          <p:cNvPr id="6" name="Text 4"/>
          <p:cNvSpPr/>
          <p:nvPr/>
        </p:nvSpPr>
        <p:spPr>
          <a:xfrm>
            <a:off x="868680" y="2697480"/>
            <a:ext cx="502920" cy="502920"/>
          </a:xfrm>
          <a:prstGeom prst="rect">
            <a:avLst/>
          </a:prstGeom>
          <a:noFill/>
          <a:ln/>
        </p:spPr>
        <p:txBody>
          <a:bodyPr wrap="square" lIns="0" tIns="0" rIns="0" bIns="0" rtlCol="0" anchor="ctr"/>
          <a:lstStyle/>
          <a:p>
            <a:pPr marL="0" indent="0" algn="ctr">
              <a:buNone/>
            </a:pPr>
            <a:r>
              <a:rPr lang="en-US" sz="1800" b="1" dirty="0">
                <a:solidFill>
                  <a:srgbClr val="232F3E"/>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600200" y="2660904"/>
            <a:ext cx="978408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Teacher   </a:t>
            </a:r>
            <a:r>
              <a:rPr lang="en-US" sz="1600" dirty="0">
                <a:solidFill>
                  <a:srgbClr val="C9D7F5"/>
                </a:solidFill>
                <a:latin typeface="Calibri" pitchFamily="34" charset="0"/>
                <a:ea typeface="Calibri" pitchFamily="34" charset="-122"/>
                <a:cs typeface="Calibri" pitchFamily="34" charset="-120"/>
              </a:rPr>
              <a:t>Create a course + join code, upload material — it's chunked &amp; embedded into Aurora/pgvector.</a:t>
            </a:r>
            <a:endParaRPr lang="en-US" sz="1600" dirty="0"/>
          </a:p>
        </p:txBody>
      </p:sp>
      <p:sp>
        <p:nvSpPr>
          <p:cNvPr id="8" name="Shape 6"/>
          <p:cNvSpPr/>
          <p:nvPr/>
        </p:nvSpPr>
        <p:spPr>
          <a:xfrm>
            <a:off x="868680" y="3538728"/>
            <a:ext cx="502920" cy="502920"/>
          </a:xfrm>
          <a:prstGeom prst="ellipse">
            <a:avLst/>
          </a:prstGeom>
          <a:solidFill>
            <a:srgbClr val="FF9900"/>
          </a:solidFill>
          <a:ln/>
        </p:spPr>
        <p:txBody>
          <a:bodyPr/>
          <a:lstStyle/>
          <a:p>
            <a:endParaRPr lang="en-CA"/>
          </a:p>
        </p:txBody>
      </p:sp>
      <p:sp>
        <p:nvSpPr>
          <p:cNvPr id="9" name="Text 7"/>
          <p:cNvSpPr/>
          <p:nvPr/>
        </p:nvSpPr>
        <p:spPr>
          <a:xfrm>
            <a:off x="868680" y="3538728"/>
            <a:ext cx="502920" cy="502920"/>
          </a:xfrm>
          <a:prstGeom prst="rect">
            <a:avLst/>
          </a:prstGeom>
          <a:noFill/>
          <a:ln/>
        </p:spPr>
        <p:txBody>
          <a:bodyPr wrap="square" lIns="0" tIns="0" rIns="0" bIns="0" rtlCol="0" anchor="ctr"/>
          <a:lstStyle/>
          <a:p>
            <a:pPr marL="0" indent="0" algn="ctr">
              <a:buNone/>
            </a:pPr>
            <a:r>
              <a:rPr lang="en-US" sz="1800" b="1" dirty="0">
                <a:solidFill>
                  <a:srgbClr val="232F3E"/>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600200" y="3502152"/>
            <a:ext cx="978408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Diagnose   </a:t>
            </a:r>
            <a:r>
              <a:rPr lang="en-US" sz="1600" dirty="0">
                <a:solidFill>
                  <a:srgbClr val="C9D7F5"/>
                </a:solidFill>
                <a:latin typeface="Calibri" pitchFamily="34" charset="0"/>
                <a:ea typeface="Calibri" pitchFamily="34" charset="-122"/>
                <a:cs typeface="Calibri" pitchFamily="34" charset="-120"/>
              </a:rPr>
              <a:t>Student joins by code; an AI diagnostic seeds their strengths &amp; gaps map.</a:t>
            </a:r>
            <a:endParaRPr lang="en-US" sz="1600" dirty="0"/>
          </a:p>
        </p:txBody>
      </p:sp>
      <p:sp>
        <p:nvSpPr>
          <p:cNvPr id="11" name="Shape 9"/>
          <p:cNvSpPr/>
          <p:nvPr/>
        </p:nvSpPr>
        <p:spPr>
          <a:xfrm>
            <a:off x="868680" y="4379976"/>
            <a:ext cx="502920" cy="502920"/>
          </a:xfrm>
          <a:prstGeom prst="ellipse">
            <a:avLst/>
          </a:prstGeom>
          <a:solidFill>
            <a:srgbClr val="FF9900"/>
          </a:solidFill>
          <a:ln/>
        </p:spPr>
        <p:txBody>
          <a:bodyPr/>
          <a:lstStyle/>
          <a:p>
            <a:endParaRPr lang="en-CA"/>
          </a:p>
        </p:txBody>
      </p:sp>
      <p:sp>
        <p:nvSpPr>
          <p:cNvPr id="12" name="Text 10"/>
          <p:cNvSpPr/>
          <p:nvPr/>
        </p:nvSpPr>
        <p:spPr>
          <a:xfrm>
            <a:off x="868680" y="4379976"/>
            <a:ext cx="502920" cy="502920"/>
          </a:xfrm>
          <a:prstGeom prst="rect">
            <a:avLst/>
          </a:prstGeom>
          <a:noFill/>
          <a:ln/>
        </p:spPr>
        <p:txBody>
          <a:bodyPr wrap="square" lIns="0" tIns="0" rIns="0" bIns="0" rtlCol="0" anchor="ctr"/>
          <a:lstStyle/>
          <a:p>
            <a:pPr marL="0" indent="0" algn="ctr">
              <a:buNone/>
            </a:pPr>
            <a:r>
              <a:rPr lang="en-US" sz="1800" b="1" dirty="0">
                <a:solidFill>
                  <a:srgbClr val="232F3E"/>
                </a:solidFill>
                <a:latin typeface="Calibri" pitchFamily="34" charset="0"/>
                <a:ea typeface="Calibri" pitchFamily="34" charset="-122"/>
                <a:cs typeface="Calibri" pitchFamily="34" charset="-120"/>
              </a:rPr>
              <a:t>3</a:t>
            </a:r>
            <a:endParaRPr lang="en-US" sz="1800" dirty="0"/>
          </a:p>
        </p:txBody>
      </p:sp>
      <p:sp>
        <p:nvSpPr>
          <p:cNvPr id="13" name="Text 11"/>
          <p:cNvSpPr/>
          <p:nvPr/>
        </p:nvSpPr>
        <p:spPr>
          <a:xfrm>
            <a:off x="1600200" y="4343400"/>
            <a:ext cx="978408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Teach + Check   </a:t>
            </a:r>
            <a:r>
              <a:rPr lang="en-US" sz="1600" dirty="0">
                <a:solidFill>
                  <a:srgbClr val="C9D7F5"/>
                </a:solidFill>
                <a:latin typeface="Calibri" pitchFamily="34" charset="0"/>
                <a:ea typeface="Calibri" pitchFamily="34" charset="-122"/>
                <a:cs typeface="Calibri" pitchFamily="34" charset="-120"/>
              </a:rPr>
              <a:t>The grounded tutor streams answers from the student's own material and checks understanding live.</a:t>
            </a:r>
            <a:endParaRPr lang="en-US" sz="1600" dirty="0"/>
          </a:p>
        </p:txBody>
      </p:sp>
      <p:sp>
        <p:nvSpPr>
          <p:cNvPr id="14" name="Shape 12"/>
          <p:cNvSpPr/>
          <p:nvPr/>
        </p:nvSpPr>
        <p:spPr>
          <a:xfrm>
            <a:off x="868680" y="5221224"/>
            <a:ext cx="502920" cy="502920"/>
          </a:xfrm>
          <a:prstGeom prst="ellipse">
            <a:avLst/>
          </a:prstGeom>
          <a:solidFill>
            <a:srgbClr val="FF9900"/>
          </a:solidFill>
          <a:ln/>
        </p:spPr>
        <p:txBody>
          <a:bodyPr/>
          <a:lstStyle/>
          <a:p>
            <a:endParaRPr lang="en-CA"/>
          </a:p>
        </p:txBody>
      </p:sp>
      <p:sp>
        <p:nvSpPr>
          <p:cNvPr id="15" name="Text 13"/>
          <p:cNvSpPr/>
          <p:nvPr/>
        </p:nvSpPr>
        <p:spPr>
          <a:xfrm>
            <a:off x="868680" y="5221224"/>
            <a:ext cx="502920" cy="502920"/>
          </a:xfrm>
          <a:prstGeom prst="rect">
            <a:avLst/>
          </a:prstGeom>
          <a:noFill/>
          <a:ln/>
        </p:spPr>
        <p:txBody>
          <a:bodyPr wrap="square" lIns="0" tIns="0" rIns="0" bIns="0" rtlCol="0" anchor="ctr"/>
          <a:lstStyle/>
          <a:p>
            <a:pPr marL="0" indent="0" algn="ctr">
              <a:buNone/>
            </a:pPr>
            <a:r>
              <a:rPr lang="en-US" sz="1800" b="1" dirty="0">
                <a:solidFill>
                  <a:srgbClr val="232F3E"/>
                </a:solidFill>
                <a:latin typeface="Calibri" pitchFamily="34" charset="0"/>
                <a:ea typeface="Calibri" pitchFamily="34" charset="-122"/>
                <a:cs typeface="Calibri" pitchFamily="34" charset="-120"/>
              </a:rPr>
              <a:t>4</a:t>
            </a:r>
            <a:endParaRPr lang="en-US" sz="1800" dirty="0"/>
          </a:p>
        </p:txBody>
      </p:sp>
      <p:sp>
        <p:nvSpPr>
          <p:cNvPr id="16" name="Text 14"/>
          <p:cNvSpPr/>
          <p:nvPr/>
        </p:nvSpPr>
        <p:spPr>
          <a:xfrm>
            <a:off x="1600200" y="5184648"/>
            <a:ext cx="978408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Verify   </a:t>
            </a:r>
            <a:r>
              <a:rPr lang="en-US" sz="1600" dirty="0">
                <a:solidFill>
                  <a:srgbClr val="C9D7F5"/>
                </a:solidFill>
                <a:latin typeface="Calibri" pitchFamily="34" charset="0"/>
                <a:ea typeface="Calibri" pitchFamily="34" charset="-122"/>
                <a:cs typeface="Calibri" pitchFamily="34" charset="-120"/>
              </a:rPr>
              <a:t>A graded assessment updates the knowledge map — and the teacher's cohort analytics.</a:t>
            </a:r>
            <a:endParaRPr lang="en-US" sz="1600" dirty="0"/>
          </a:p>
        </p:txBody>
      </p:sp>
      <p:pic>
        <p:nvPicPr>
          <p:cNvPr id="17" name="Image 0" descr="EdSynapse logo"/>
          <p:cNvPicPr>
            <a:picLocks noChangeAspect="1"/>
          </p:cNvPicPr>
          <p:nvPr/>
        </p:nvPicPr>
        <p:blipFill>
          <a:blip r:embed="rId3"/>
          <a:stretch>
            <a:fillRect/>
          </a:stretch>
        </p:blipFill>
        <p:spPr>
          <a:xfrm>
            <a:off x="11265408" y="292608"/>
            <a:ext cx="640080" cy="6400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548640"/>
          </a:xfrm>
          <a:prstGeom prst="rect">
            <a:avLst/>
          </a:prstGeom>
          <a:noFill/>
          <a:ln/>
        </p:spPr>
        <p:txBody>
          <a:bodyPr wrap="square" lIns="0" tIns="0" rIns="0" bIns="0" rtlCol="0" anchor="ctr"/>
          <a:lstStyle/>
          <a:p>
            <a:pPr marL="0" indent="0">
              <a:buNone/>
            </a:pPr>
            <a:r>
              <a:rPr lang="en-US" sz="3100" b="1" dirty="0">
                <a:solidFill>
                  <a:srgbClr val="1E3A8A"/>
                </a:solidFill>
                <a:latin typeface="Cambria" pitchFamily="34" charset="0"/>
                <a:ea typeface="Cambria" pitchFamily="34" charset="-122"/>
                <a:cs typeface="Cambria" pitchFamily="34" charset="-120"/>
              </a:rPr>
              <a:t>How it's built — Vercel × AWS Aurora</a:t>
            </a:r>
            <a:endParaRPr lang="en-US" sz="3100" dirty="0"/>
          </a:p>
        </p:txBody>
      </p:sp>
      <p:sp>
        <p:nvSpPr>
          <p:cNvPr id="3" name="Text 1"/>
          <p:cNvSpPr/>
          <p:nvPr/>
        </p:nvSpPr>
        <p:spPr>
          <a:xfrm>
            <a:off x="566928" y="896112"/>
            <a:ext cx="11064240" cy="365760"/>
          </a:xfrm>
          <a:prstGeom prst="rect">
            <a:avLst/>
          </a:prstGeom>
          <a:noFill/>
          <a:ln/>
        </p:spPr>
        <p:txBody>
          <a:bodyPr wrap="square" lIns="0" tIns="0" rIns="0" bIns="0" rtlCol="0" anchor="ctr"/>
          <a:lstStyle/>
          <a:p>
            <a:pPr marL="0" indent="0">
              <a:buNone/>
            </a:pPr>
            <a:r>
              <a:rPr lang="en-US" sz="1400" dirty="0">
                <a:solidFill>
                  <a:srgbClr val="5B6B86"/>
                </a:solidFill>
                <a:latin typeface="Calibri" pitchFamily="34" charset="0"/>
                <a:ea typeface="Calibri" pitchFamily="34" charset="-122"/>
                <a:cs typeface="Calibri" pitchFamily="34" charset="-120"/>
              </a:rPr>
              <a:t>One request crosses Vercel's edge + serverless compute and lands in Aurora — which serves BOTH relational data and vector search.</a:t>
            </a:r>
            <a:endParaRPr lang="en-US" sz="1400" dirty="0"/>
          </a:p>
        </p:txBody>
      </p:sp>
      <p:sp>
        <p:nvSpPr>
          <p:cNvPr id="4" name="Shape 2"/>
          <p:cNvSpPr/>
          <p:nvPr/>
        </p:nvSpPr>
        <p:spPr>
          <a:xfrm>
            <a:off x="548640" y="1417320"/>
            <a:ext cx="2194560" cy="3063240"/>
          </a:xfrm>
          <a:prstGeom prst="roundRect">
            <a:avLst>
              <a:gd name="adj" fmla="val 4167"/>
            </a:avLst>
          </a:prstGeom>
          <a:solidFill>
            <a:srgbClr val="F0F6FF"/>
          </a:solidFill>
          <a:ln w="12700">
            <a:solidFill>
              <a:srgbClr val="D5DEEC"/>
            </a:solidFill>
            <a:prstDash val="solid"/>
          </a:ln>
        </p:spPr>
        <p:txBody>
          <a:bodyPr/>
          <a:lstStyle/>
          <a:p>
            <a:endParaRPr lang="en-CA"/>
          </a:p>
        </p:txBody>
      </p:sp>
      <p:sp>
        <p:nvSpPr>
          <p:cNvPr id="5" name="Text 3"/>
          <p:cNvSpPr/>
          <p:nvPr/>
        </p:nvSpPr>
        <p:spPr>
          <a:xfrm>
            <a:off x="548640" y="1508760"/>
            <a:ext cx="2194560" cy="274320"/>
          </a:xfrm>
          <a:prstGeom prst="rect">
            <a:avLst/>
          </a:prstGeom>
          <a:noFill/>
          <a:ln/>
        </p:spPr>
        <p:txBody>
          <a:bodyPr wrap="square" lIns="0" tIns="0" rIns="0" bIns="0" rtlCol="0" anchor="ctr"/>
          <a:lstStyle/>
          <a:p>
            <a:pPr marL="0" indent="0" algn="ctr">
              <a:buNone/>
            </a:pPr>
            <a:r>
              <a:rPr lang="en-US" sz="1150" b="1" kern="0" spc="100" dirty="0">
                <a:solidFill>
                  <a:srgbClr val="1E3A8A"/>
                </a:solidFill>
                <a:latin typeface="Calibri" pitchFamily="34" charset="0"/>
                <a:ea typeface="Calibri" pitchFamily="34" charset="-122"/>
                <a:cs typeface="Calibri" pitchFamily="34" charset="-120"/>
              </a:rPr>
              <a:t>CLIENT — BROWSER</a:t>
            </a:r>
            <a:endParaRPr lang="en-US" sz="1150" dirty="0"/>
          </a:p>
        </p:txBody>
      </p:sp>
      <p:sp>
        <p:nvSpPr>
          <p:cNvPr id="6" name="Shape 4"/>
          <p:cNvSpPr/>
          <p:nvPr/>
        </p:nvSpPr>
        <p:spPr>
          <a:xfrm>
            <a:off x="749808" y="1874520"/>
            <a:ext cx="1792224" cy="603504"/>
          </a:xfrm>
          <a:prstGeom prst="roundRect">
            <a:avLst>
              <a:gd name="adj" fmla="val 10606"/>
            </a:avLst>
          </a:prstGeom>
          <a:solidFill>
            <a:srgbClr val="FFFFFF"/>
          </a:solidFill>
          <a:ln/>
          <a:effectLst>
            <a:outerShdw blurRad="88900" dist="25400" dir="5400000" algn="bl" rotWithShape="0">
              <a:srgbClr val="1E293B">
                <a:alpha val="12000"/>
              </a:srgbClr>
            </a:outerShdw>
          </a:effectLst>
        </p:spPr>
        <p:txBody>
          <a:bodyPr/>
          <a:lstStyle/>
          <a:p>
            <a:endParaRPr lang="en-CA"/>
          </a:p>
        </p:txBody>
      </p:sp>
      <p:sp>
        <p:nvSpPr>
          <p:cNvPr id="7" name="Text 5"/>
          <p:cNvSpPr/>
          <p:nvPr/>
        </p:nvSpPr>
        <p:spPr>
          <a:xfrm>
            <a:off x="859536" y="1947672"/>
            <a:ext cx="1572768" cy="27432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Teacher</a:t>
            </a:r>
            <a:endParaRPr lang="en-US" sz="1200" dirty="0"/>
          </a:p>
        </p:txBody>
      </p:sp>
      <p:sp>
        <p:nvSpPr>
          <p:cNvPr id="8" name="Shape 6"/>
          <p:cNvSpPr/>
          <p:nvPr/>
        </p:nvSpPr>
        <p:spPr>
          <a:xfrm>
            <a:off x="749808" y="2615184"/>
            <a:ext cx="1792224" cy="603504"/>
          </a:xfrm>
          <a:prstGeom prst="roundRect">
            <a:avLst>
              <a:gd name="adj" fmla="val 10606"/>
            </a:avLst>
          </a:prstGeom>
          <a:solidFill>
            <a:srgbClr val="FFFFFF"/>
          </a:solidFill>
          <a:ln/>
          <a:effectLst>
            <a:outerShdw blurRad="88900" dist="25400" dir="5400000" algn="bl" rotWithShape="0">
              <a:srgbClr val="1E293B">
                <a:alpha val="12000"/>
              </a:srgbClr>
            </a:outerShdw>
          </a:effectLst>
        </p:spPr>
        <p:txBody>
          <a:bodyPr/>
          <a:lstStyle/>
          <a:p>
            <a:endParaRPr lang="en-CA"/>
          </a:p>
        </p:txBody>
      </p:sp>
      <p:sp>
        <p:nvSpPr>
          <p:cNvPr id="9" name="Text 7"/>
          <p:cNvSpPr/>
          <p:nvPr/>
        </p:nvSpPr>
        <p:spPr>
          <a:xfrm>
            <a:off x="859536" y="2688336"/>
            <a:ext cx="1572768" cy="27432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Student</a:t>
            </a:r>
            <a:endParaRPr lang="en-US" sz="1200" dirty="0"/>
          </a:p>
        </p:txBody>
      </p:sp>
      <p:sp>
        <p:nvSpPr>
          <p:cNvPr id="10" name="Shape 8"/>
          <p:cNvSpPr/>
          <p:nvPr/>
        </p:nvSpPr>
        <p:spPr>
          <a:xfrm>
            <a:off x="749808" y="3355848"/>
            <a:ext cx="1792224" cy="603504"/>
          </a:xfrm>
          <a:prstGeom prst="roundRect">
            <a:avLst>
              <a:gd name="adj" fmla="val 10606"/>
            </a:avLst>
          </a:prstGeom>
          <a:solidFill>
            <a:srgbClr val="FFFFFF"/>
          </a:solidFill>
          <a:ln/>
          <a:effectLst>
            <a:outerShdw blurRad="88900" dist="25400" dir="5400000" algn="bl" rotWithShape="0">
              <a:srgbClr val="1E293B">
                <a:alpha val="12000"/>
              </a:srgbClr>
            </a:outerShdw>
          </a:effectLst>
        </p:spPr>
        <p:txBody>
          <a:bodyPr/>
          <a:lstStyle/>
          <a:p>
            <a:endParaRPr lang="en-CA"/>
          </a:p>
        </p:txBody>
      </p:sp>
      <p:sp>
        <p:nvSpPr>
          <p:cNvPr id="11" name="Text 9"/>
          <p:cNvSpPr/>
          <p:nvPr/>
        </p:nvSpPr>
        <p:spPr>
          <a:xfrm>
            <a:off x="859536" y="3429000"/>
            <a:ext cx="1572768" cy="27432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Admin</a:t>
            </a:r>
            <a:endParaRPr lang="en-US" sz="1200" dirty="0"/>
          </a:p>
        </p:txBody>
      </p:sp>
      <p:sp>
        <p:nvSpPr>
          <p:cNvPr id="12" name="Shape 10"/>
          <p:cNvSpPr/>
          <p:nvPr/>
        </p:nvSpPr>
        <p:spPr>
          <a:xfrm>
            <a:off x="3063240" y="1417320"/>
            <a:ext cx="4846320" cy="3063240"/>
          </a:xfrm>
          <a:prstGeom prst="roundRect">
            <a:avLst>
              <a:gd name="adj" fmla="val 2985"/>
            </a:avLst>
          </a:prstGeom>
          <a:solidFill>
            <a:srgbClr val="F1F5F9"/>
          </a:solidFill>
          <a:ln w="12700">
            <a:solidFill>
              <a:srgbClr val="D5DEEC"/>
            </a:solidFill>
            <a:prstDash val="solid"/>
          </a:ln>
        </p:spPr>
        <p:txBody>
          <a:bodyPr/>
          <a:lstStyle/>
          <a:p>
            <a:endParaRPr lang="en-CA"/>
          </a:p>
        </p:txBody>
      </p:sp>
      <p:sp>
        <p:nvSpPr>
          <p:cNvPr id="13" name="Text 11"/>
          <p:cNvSpPr/>
          <p:nvPr/>
        </p:nvSpPr>
        <p:spPr>
          <a:xfrm>
            <a:off x="3063240" y="1508760"/>
            <a:ext cx="4846320" cy="274320"/>
          </a:xfrm>
          <a:prstGeom prst="rect">
            <a:avLst/>
          </a:prstGeom>
          <a:noFill/>
          <a:ln/>
        </p:spPr>
        <p:txBody>
          <a:bodyPr wrap="square" lIns="0" tIns="0" rIns="0" bIns="0" rtlCol="0" anchor="ctr"/>
          <a:lstStyle/>
          <a:p>
            <a:pPr marL="0" indent="0" algn="ctr">
              <a:buNone/>
            </a:pPr>
            <a:r>
              <a:rPr lang="en-US" sz="1150" b="1" kern="0" spc="100" dirty="0">
                <a:solidFill>
                  <a:srgbClr val="111827"/>
                </a:solidFill>
                <a:latin typeface="Calibri" pitchFamily="34" charset="0"/>
                <a:ea typeface="Calibri" pitchFamily="34" charset="-122"/>
                <a:cs typeface="Calibri" pitchFamily="34" charset="-120"/>
              </a:rPr>
              <a:t>VERCEL</a:t>
            </a:r>
            <a:endParaRPr lang="en-US" sz="1150" dirty="0"/>
          </a:p>
        </p:txBody>
      </p:sp>
      <p:sp>
        <p:nvSpPr>
          <p:cNvPr id="14" name="Shape 12"/>
          <p:cNvSpPr/>
          <p:nvPr/>
        </p:nvSpPr>
        <p:spPr>
          <a:xfrm>
            <a:off x="3291840" y="1828800"/>
            <a:ext cx="4389120" cy="566928"/>
          </a:xfrm>
          <a:prstGeom prst="roundRect">
            <a:avLst>
              <a:gd name="adj" fmla="val 11290"/>
            </a:avLst>
          </a:prstGeom>
          <a:solidFill>
            <a:srgbClr val="FFFFFF"/>
          </a:solidFill>
          <a:ln/>
          <a:effectLst>
            <a:outerShdw blurRad="88900" dist="25400" dir="5400000" algn="bl" rotWithShape="0">
              <a:srgbClr val="1E293B">
                <a:alpha val="12000"/>
              </a:srgbClr>
            </a:outerShdw>
          </a:effectLst>
        </p:spPr>
        <p:txBody>
          <a:bodyPr/>
          <a:lstStyle/>
          <a:p>
            <a:endParaRPr lang="en-CA"/>
          </a:p>
        </p:txBody>
      </p:sp>
      <p:sp>
        <p:nvSpPr>
          <p:cNvPr id="15" name="Text 13"/>
          <p:cNvSpPr/>
          <p:nvPr/>
        </p:nvSpPr>
        <p:spPr>
          <a:xfrm>
            <a:off x="3401568" y="1901952"/>
            <a:ext cx="4169664" cy="27432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Edge Middleware</a:t>
            </a:r>
            <a:endParaRPr lang="en-US" sz="1200" dirty="0"/>
          </a:p>
        </p:txBody>
      </p:sp>
      <p:sp>
        <p:nvSpPr>
          <p:cNvPr id="16" name="Text 14"/>
          <p:cNvSpPr/>
          <p:nvPr/>
        </p:nvSpPr>
        <p:spPr>
          <a:xfrm>
            <a:off x="3401568" y="2157984"/>
            <a:ext cx="4169664" cy="182880"/>
          </a:xfrm>
          <a:prstGeom prst="rect">
            <a:avLst/>
          </a:prstGeom>
          <a:noFill/>
          <a:ln/>
        </p:spPr>
        <p:txBody>
          <a:bodyPr wrap="square" lIns="0" tIns="0" rIns="0" bIns="0" rtlCol="0" anchor="t"/>
          <a:lstStyle/>
          <a:p>
            <a:pPr marL="0" indent="0">
              <a:lnSpc>
                <a:spcPct val="102000"/>
              </a:lnSpc>
              <a:buNone/>
            </a:pPr>
            <a:r>
              <a:rPr lang="en-US" sz="950" dirty="0">
                <a:solidFill>
                  <a:srgbClr val="5B6B86"/>
                </a:solidFill>
                <a:latin typeface="Calibri" pitchFamily="34" charset="0"/>
                <a:ea typeface="Calibri" pitchFamily="34" charset="-122"/>
                <a:cs typeface="Calibri" pitchFamily="34" charset="-120"/>
              </a:rPr>
              <a:t>Cookie-presence route gate · no DB at the edge</a:t>
            </a:r>
            <a:endParaRPr lang="en-US" sz="950" dirty="0"/>
          </a:p>
        </p:txBody>
      </p:sp>
      <p:sp>
        <p:nvSpPr>
          <p:cNvPr id="17" name="Shape 15"/>
          <p:cNvSpPr/>
          <p:nvPr/>
        </p:nvSpPr>
        <p:spPr>
          <a:xfrm>
            <a:off x="3291840" y="2487168"/>
            <a:ext cx="4389120" cy="566928"/>
          </a:xfrm>
          <a:prstGeom prst="roundRect">
            <a:avLst>
              <a:gd name="adj" fmla="val 11290"/>
            </a:avLst>
          </a:prstGeom>
          <a:solidFill>
            <a:srgbClr val="FFFFFF"/>
          </a:solidFill>
          <a:ln/>
          <a:effectLst>
            <a:outerShdw blurRad="88900" dist="25400" dir="5400000" algn="bl" rotWithShape="0">
              <a:srgbClr val="1E293B">
                <a:alpha val="12000"/>
              </a:srgbClr>
            </a:outerShdw>
          </a:effectLst>
        </p:spPr>
        <p:txBody>
          <a:bodyPr/>
          <a:lstStyle/>
          <a:p>
            <a:endParaRPr lang="en-CA"/>
          </a:p>
        </p:txBody>
      </p:sp>
      <p:sp>
        <p:nvSpPr>
          <p:cNvPr id="18" name="Text 16"/>
          <p:cNvSpPr/>
          <p:nvPr/>
        </p:nvSpPr>
        <p:spPr>
          <a:xfrm>
            <a:off x="3401568" y="2560320"/>
            <a:ext cx="4169664" cy="27432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Next.js App Router (React 19)</a:t>
            </a:r>
            <a:endParaRPr lang="en-US" sz="1200" dirty="0"/>
          </a:p>
        </p:txBody>
      </p:sp>
      <p:sp>
        <p:nvSpPr>
          <p:cNvPr id="19" name="Text 17"/>
          <p:cNvSpPr/>
          <p:nvPr/>
        </p:nvSpPr>
        <p:spPr>
          <a:xfrm>
            <a:off x="3401568" y="2816352"/>
            <a:ext cx="4169664" cy="182880"/>
          </a:xfrm>
          <a:prstGeom prst="rect">
            <a:avLst/>
          </a:prstGeom>
          <a:noFill/>
          <a:ln/>
        </p:spPr>
        <p:txBody>
          <a:bodyPr wrap="square" lIns="0" tIns="0" rIns="0" bIns="0" rtlCol="0" anchor="t"/>
          <a:lstStyle/>
          <a:p>
            <a:pPr marL="0" indent="0">
              <a:lnSpc>
                <a:spcPct val="102000"/>
              </a:lnSpc>
              <a:buNone/>
            </a:pPr>
            <a:r>
              <a:rPr lang="en-US" sz="950" dirty="0">
                <a:solidFill>
                  <a:srgbClr val="5B6B86"/>
                </a:solidFill>
                <a:latin typeface="Calibri" pitchFamily="34" charset="0"/>
                <a:ea typeface="Calibri" pitchFamily="34" charset="-122"/>
                <a:cs typeface="Calibri" pitchFamily="34" charset="-120"/>
              </a:rPr>
              <a:t>Role-protected UI · server components</a:t>
            </a:r>
            <a:endParaRPr lang="en-US" sz="950" dirty="0"/>
          </a:p>
        </p:txBody>
      </p:sp>
      <p:sp>
        <p:nvSpPr>
          <p:cNvPr id="20" name="Shape 18"/>
          <p:cNvSpPr/>
          <p:nvPr/>
        </p:nvSpPr>
        <p:spPr>
          <a:xfrm>
            <a:off x="3291840" y="3145536"/>
            <a:ext cx="4389120" cy="676656"/>
          </a:xfrm>
          <a:prstGeom prst="roundRect">
            <a:avLst>
              <a:gd name="adj" fmla="val 9459"/>
            </a:avLst>
          </a:prstGeom>
          <a:solidFill>
            <a:srgbClr val="EAF0FE"/>
          </a:solidFill>
          <a:ln/>
          <a:effectLst>
            <a:outerShdw blurRad="88900" dist="25400" dir="5400000" algn="bl" rotWithShape="0">
              <a:srgbClr val="1E293B">
                <a:alpha val="12000"/>
              </a:srgbClr>
            </a:outerShdw>
          </a:effectLst>
        </p:spPr>
        <p:txBody>
          <a:bodyPr/>
          <a:lstStyle/>
          <a:p>
            <a:endParaRPr lang="en-CA"/>
          </a:p>
        </p:txBody>
      </p:sp>
      <p:sp>
        <p:nvSpPr>
          <p:cNvPr id="21" name="Text 19"/>
          <p:cNvSpPr/>
          <p:nvPr/>
        </p:nvSpPr>
        <p:spPr>
          <a:xfrm>
            <a:off x="3401568" y="3218688"/>
            <a:ext cx="4169664" cy="274320"/>
          </a:xfrm>
          <a:prstGeom prst="rect">
            <a:avLst/>
          </a:prstGeom>
          <a:noFill/>
          <a:ln/>
        </p:spPr>
        <p:txBody>
          <a:bodyPr wrap="square" lIns="0" tIns="0" rIns="0" bIns="0" rtlCol="0" anchor="t"/>
          <a:lstStyle/>
          <a:p>
            <a:pPr marL="0" indent="0">
              <a:buNone/>
            </a:pPr>
            <a:r>
              <a:rPr lang="en-US" sz="1200" b="1" dirty="0">
                <a:solidFill>
                  <a:srgbClr val="1E3A8A"/>
                </a:solidFill>
                <a:latin typeface="Calibri" pitchFamily="34" charset="0"/>
                <a:ea typeface="Calibri" pitchFamily="34" charset="-122"/>
                <a:cs typeface="Calibri" pitchFamily="34" charset="-120"/>
              </a:rPr>
              <a:t>Serverless Functions /api</a:t>
            </a:r>
            <a:endParaRPr lang="en-US" sz="1200" dirty="0"/>
          </a:p>
        </p:txBody>
      </p:sp>
      <p:sp>
        <p:nvSpPr>
          <p:cNvPr id="22" name="Text 20"/>
          <p:cNvSpPr/>
          <p:nvPr/>
        </p:nvSpPr>
        <p:spPr>
          <a:xfrm>
            <a:off x="3401568" y="3474720"/>
            <a:ext cx="4169664" cy="292608"/>
          </a:xfrm>
          <a:prstGeom prst="rect">
            <a:avLst/>
          </a:prstGeom>
          <a:noFill/>
          <a:ln/>
        </p:spPr>
        <p:txBody>
          <a:bodyPr wrap="square" lIns="0" tIns="0" rIns="0" bIns="0" rtlCol="0" anchor="t"/>
          <a:lstStyle/>
          <a:p>
            <a:pPr marL="0" indent="0">
              <a:lnSpc>
                <a:spcPct val="102000"/>
              </a:lnSpc>
              <a:buNone/>
            </a:pPr>
            <a:r>
              <a:rPr lang="en-US" sz="950" dirty="0">
                <a:solidFill>
                  <a:srgbClr val="3257A8"/>
                </a:solidFill>
                <a:latin typeface="Calibri" pitchFamily="34" charset="0"/>
                <a:ea typeface="Calibri" pitchFamily="34" charset="-122"/>
                <a:cs typeface="Calibri" pitchFamily="34" charset="-120"/>
              </a:rPr>
              <a:t>CRUD · RAG ingest · quiz/grade · SSE tutor stream</a:t>
            </a:r>
            <a:endParaRPr lang="en-US" sz="950" dirty="0"/>
          </a:p>
        </p:txBody>
      </p:sp>
      <p:sp>
        <p:nvSpPr>
          <p:cNvPr id="23" name="Shape 21"/>
          <p:cNvSpPr/>
          <p:nvPr/>
        </p:nvSpPr>
        <p:spPr>
          <a:xfrm>
            <a:off x="3291840" y="3913632"/>
            <a:ext cx="4389120" cy="420624"/>
          </a:xfrm>
          <a:prstGeom prst="roundRect">
            <a:avLst>
              <a:gd name="adj" fmla="val 15217"/>
            </a:avLst>
          </a:prstGeom>
          <a:solidFill>
            <a:srgbClr val="FFF1DC"/>
          </a:solidFill>
          <a:ln/>
          <a:effectLst>
            <a:outerShdw blurRad="88900" dist="25400" dir="5400000" algn="bl" rotWithShape="0">
              <a:srgbClr val="1E293B">
                <a:alpha val="12000"/>
              </a:srgbClr>
            </a:outerShdw>
          </a:effectLst>
        </p:spPr>
        <p:txBody>
          <a:bodyPr/>
          <a:lstStyle/>
          <a:p>
            <a:endParaRPr lang="en-CA"/>
          </a:p>
        </p:txBody>
      </p:sp>
      <p:sp>
        <p:nvSpPr>
          <p:cNvPr id="24" name="Text 22"/>
          <p:cNvSpPr/>
          <p:nvPr/>
        </p:nvSpPr>
        <p:spPr>
          <a:xfrm>
            <a:off x="3401568" y="3986784"/>
            <a:ext cx="4169664" cy="274320"/>
          </a:xfrm>
          <a:prstGeom prst="rect">
            <a:avLst/>
          </a:prstGeom>
          <a:noFill/>
          <a:ln/>
        </p:spPr>
        <p:txBody>
          <a:bodyPr wrap="square" lIns="0" tIns="0" rIns="0" bIns="0" rtlCol="0" anchor="t"/>
          <a:lstStyle/>
          <a:p>
            <a:pPr marL="0" indent="0">
              <a:buNone/>
            </a:pPr>
            <a:r>
              <a:rPr lang="en-US" sz="1200" b="1" dirty="0">
                <a:solidFill>
                  <a:srgbClr val="232F3E"/>
                </a:solidFill>
                <a:latin typeface="Calibri" pitchFamily="34" charset="0"/>
                <a:ea typeface="Calibri" pitchFamily="34" charset="-122"/>
                <a:cs typeface="Calibri" pitchFamily="34" charset="-120"/>
              </a:rPr>
              <a:t>OIDC identity → short-lived RDS IAM token</a:t>
            </a:r>
            <a:endParaRPr lang="en-US" sz="1200" dirty="0"/>
          </a:p>
        </p:txBody>
      </p:sp>
      <p:sp>
        <p:nvSpPr>
          <p:cNvPr id="25" name="Shape 23"/>
          <p:cNvSpPr/>
          <p:nvPr/>
        </p:nvSpPr>
        <p:spPr>
          <a:xfrm>
            <a:off x="8229600" y="1417320"/>
            <a:ext cx="3044952" cy="3063240"/>
          </a:xfrm>
          <a:prstGeom prst="roundRect">
            <a:avLst>
              <a:gd name="adj" fmla="val 3003"/>
            </a:avLst>
          </a:prstGeom>
          <a:solidFill>
            <a:srgbClr val="FFF4E5"/>
          </a:solidFill>
          <a:ln w="12700">
            <a:solidFill>
              <a:srgbClr val="D5DEEC"/>
            </a:solidFill>
            <a:prstDash val="solid"/>
          </a:ln>
        </p:spPr>
        <p:txBody>
          <a:bodyPr/>
          <a:lstStyle/>
          <a:p>
            <a:endParaRPr lang="en-CA"/>
          </a:p>
        </p:txBody>
      </p:sp>
      <p:sp>
        <p:nvSpPr>
          <p:cNvPr id="26" name="Text 24"/>
          <p:cNvSpPr/>
          <p:nvPr/>
        </p:nvSpPr>
        <p:spPr>
          <a:xfrm>
            <a:off x="8229600" y="1508760"/>
            <a:ext cx="3044952" cy="274320"/>
          </a:xfrm>
          <a:prstGeom prst="rect">
            <a:avLst/>
          </a:prstGeom>
          <a:noFill/>
          <a:ln/>
        </p:spPr>
        <p:txBody>
          <a:bodyPr wrap="square" lIns="0" tIns="0" rIns="0" bIns="0" rtlCol="0" anchor="ctr"/>
          <a:lstStyle/>
          <a:p>
            <a:pPr marL="0" indent="0" algn="ctr">
              <a:buNone/>
            </a:pPr>
            <a:r>
              <a:rPr lang="en-US" sz="1150" b="1" kern="0" spc="100" dirty="0">
                <a:solidFill>
                  <a:srgbClr val="232F3E"/>
                </a:solidFill>
                <a:latin typeface="Calibri" pitchFamily="34" charset="0"/>
                <a:ea typeface="Calibri" pitchFamily="34" charset="-122"/>
                <a:cs typeface="Calibri" pitchFamily="34" charset="-120"/>
              </a:rPr>
              <a:t>AWS</a:t>
            </a:r>
            <a:endParaRPr lang="en-US" sz="1150" dirty="0"/>
          </a:p>
        </p:txBody>
      </p:sp>
      <p:sp>
        <p:nvSpPr>
          <p:cNvPr id="27" name="Shape 25"/>
          <p:cNvSpPr/>
          <p:nvPr/>
        </p:nvSpPr>
        <p:spPr>
          <a:xfrm>
            <a:off x="8430768" y="1828800"/>
            <a:ext cx="2651760" cy="2505456"/>
          </a:xfrm>
          <a:prstGeom prst="roundRect">
            <a:avLst>
              <a:gd name="adj" fmla="val 2555"/>
            </a:avLst>
          </a:prstGeom>
          <a:solidFill>
            <a:srgbClr val="FF9900"/>
          </a:solidFill>
          <a:ln/>
          <a:effectLst>
            <a:outerShdw blurRad="88900" dist="25400" dir="5400000" algn="bl" rotWithShape="0">
              <a:srgbClr val="1E293B">
                <a:alpha val="12000"/>
              </a:srgbClr>
            </a:outerShdw>
          </a:effectLst>
        </p:spPr>
        <p:txBody>
          <a:bodyPr/>
          <a:lstStyle/>
          <a:p>
            <a:endParaRPr lang="en-CA"/>
          </a:p>
        </p:txBody>
      </p:sp>
      <p:sp>
        <p:nvSpPr>
          <p:cNvPr id="28" name="Text 26"/>
          <p:cNvSpPr/>
          <p:nvPr/>
        </p:nvSpPr>
        <p:spPr>
          <a:xfrm>
            <a:off x="8540496" y="1901952"/>
            <a:ext cx="2432304" cy="274320"/>
          </a:xfrm>
          <a:prstGeom prst="rect">
            <a:avLst/>
          </a:prstGeom>
          <a:noFill/>
          <a:ln/>
        </p:spPr>
        <p:txBody>
          <a:bodyPr wrap="square" lIns="0" tIns="0" rIns="0" bIns="0" rtlCol="0" anchor="t"/>
          <a:lstStyle/>
          <a:p>
            <a:pPr marL="0" indent="0">
              <a:buNone/>
            </a:pPr>
            <a:r>
              <a:rPr lang="en-US" sz="1200" b="1" dirty="0">
                <a:solidFill>
                  <a:srgbClr val="232F3E"/>
                </a:solidFill>
                <a:latin typeface="Calibri" pitchFamily="34" charset="0"/>
                <a:ea typeface="Calibri" pitchFamily="34" charset="-122"/>
                <a:cs typeface="Calibri" pitchFamily="34" charset="-120"/>
              </a:rPr>
              <a:t>Aurora PostgreSQL 17  +  pgvector 0.8</a:t>
            </a:r>
            <a:endParaRPr lang="en-US" sz="1200" dirty="0"/>
          </a:p>
        </p:txBody>
      </p:sp>
      <p:sp>
        <p:nvSpPr>
          <p:cNvPr id="29" name="Text 27"/>
          <p:cNvSpPr/>
          <p:nvPr/>
        </p:nvSpPr>
        <p:spPr>
          <a:xfrm>
            <a:off x="8540496" y="2157984"/>
            <a:ext cx="2432304" cy="2121408"/>
          </a:xfrm>
          <a:prstGeom prst="rect">
            <a:avLst/>
          </a:prstGeom>
          <a:noFill/>
          <a:ln/>
        </p:spPr>
        <p:txBody>
          <a:bodyPr wrap="square" lIns="0" tIns="0" rIns="0" bIns="0" rtlCol="0" anchor="t"/>
          <a:lstStyle/>
          <a:p>
            <a:pPr marL="0" indent="0">
              <a:lnSpc>
                <a:spcPct val="102000"/>
              </a:lnSpc>
              <a:buNone/>
            </a:pPr>
            <a:r>
              <a:rPr lang="en-US" sz="950" dirty="0">
                <a:solidFill>
                  <a:srgbClr val="5A3D0A"/>
                </a:solidFill>
                <a:latin typeface="Calibri" pitchFamily="34" charset="0"/>
                <a:ea typeface="Calibri" pitchFamily="34" charset="-122"/>
                <a:cs typeface="Calibri" pitchFamily="34" charset="-120"/>
              </a:rPr>
              <a:t>Relational app data — users · courses · knowledge map</a:t>
            </a:r>
            <a:endParaRPr lang="en-US" sz="950" dirty="0"/>
          </a:p>
          <a:p>
            <a:pPr marL="0" indent="0">
              <a:lnSpc>
                <a:spcPct val="102000"/>
              </a:lnSpc>
              <a:buNone/>
            </a:pPr>
            <a:endParaRPr lang="en-US" sz="950" dirty="0"/>
          </a:p>
          <a:p>
            <a:pPr marL="0" indent="0">
              <a:lnSpc>
                <a:spcPct val="102000"/>
              </a:lnSpc>
              <a:buNone/>
            </a:pPr>
            <a:r>
              <a:rPr lang="en-US" sz="950" dirty="0">
                <a:solidFill>
                  <a:srgbClr val="5A3D0A"/>
                </a:solidFill>
                <a:latin typeface="Calibri" pitchFamily="34" charset="0"/>
                <a:ea typeface="Calibri" pitchFamily="34" charset="-122"/>
                <a:cs typeface="Calibri" pitchFamily="34" charset="-120"/>
              </a:rPr>
              <a:t>Vector store — source_chunks, cosine similarity search (RAG)</a:t>
            </a:r>
            <a:endParaRPr lang="en-US" sz="950" dirty="0"/>
          </a:p>
        </p:txBody>
      </p:sp>
      <p:sp>
        <p:nvSpPr>
          <p:cNvPr id="30" name="Shape 28"/>
          <p:cNvSpPr/>
          <p:nvPr/>
        </p:nvSpPr>
        <p:spPr>
          <a:xfrm>
            <a:off x="2606040" y="2926080"/>
            <a:ext cx="384048" cy="0"/>
          </a:xfrm>
          <a:prstGeom prst="line">
            <a:avLst/>
          </a:prstGeom>
          <a:noFill/>
          <a:ln w="28575">
            <a:solidFill>
              <a:srgbClr val="1E3A8A"/>
            </a:solidFill>
            <a:prstDash val="solid"/>
            <a:tailEnd type="triangle"/>
          </a:ln>
        </p:spPr>
        <p:txBody>
          <a:bodyPr/>
          <a:lstStyle/>
          <a:p>
            <a:endParaRPr lang="en-CA"/>
          </a:p>
        </p:txBody>
      </p:sp>
      <p:sp>
        <p:nvSpPr>
          <p:cNvPr id="31" name="Shape 29"/>
          <p:cNvSpPr/>
          <p:nvPr/>
        </p:nvSpPr>
        <p:spPr>
          <a:xfrm>
            <a:off x="7726680" y="2926080"/>
            <a:ext cx="457200" cy="0"/>
          </a:xfrm>
          <a:prstGeom prst="line">
            <a:avLst/>
          </a:prstGeom>
          <a:noFill/>
          <a:ln w="28575">
            <a:solidFill>
              <a:srgbClr val="FF9900"/>
            </a:solidFill>
            <a:prstDash val="solid"/>
            <a:tailEnd type="triangle"/>
          </a:ln>
        </p:spPr>
        <p:txBody>
          <a:bodyPr/>
          <a:lstStyle/>
          <a:p>
            <a:endParaRPr lang="en-CA"/>
          </a:p>
        </p:txBody>
      </p:sp>
      <p:sp>
        <p:nvSpPr>
          <p:cNvPr id="32" name="Shape 30"/>
          <p:cNvSpPr/>
          <p:nvPr/>
        </p:nvSpPr>
        <p:spPr>
          <a:xfrm>
            <a:off x="3291840" y="5074920"/>
            <a:ext cx="1417320" cy="713232"/>
          </a:xfrm>
          <a:prstGeom prst="roundRect">
            <a:avLst>
              <a:gd name="adj" fmla="val 8974"/>
            </a:avLst>
          </a:prstGeom>
          <a:solidFill>
            <a:srgbClr val="FFFFFF"/>
          </a:solidFill>
          <a:ln/>
          <a:effectLst>
            <a:outerShdw blurRad="88900" dist="25400" dir="5400000" algn="bl" rotWithShape="0">
              <a:srgbClr val="1E293B">
                <a:alpha val="12000"/>
              </a:srgbClr>
            </a:outerShdw>
          </a:effectLst>
        </p:spPr>
        <p:txBody>
          <a:bodyPr/>
          <a:lstStyle/>
          <a:p>
            <a:endParaRPr lang="en-CA"/>
          </a:p>
        </p:txBody>
      </p:sp>
      <p:sp>
        <p:nvSpPr>
          <p:cNvPr id="33" name="Text 31"/>
          <p:cNvSpPr/>
          <p:nvPr/>
        </p:nvSpPr>
        <p:spPr>
          <a:xfrm>
            <a:off x="3401568" y="5148072"/>
            <a:ext cx="1197864" cy="27432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OpenAI</a:t>
            </a:r>
            <a:endParaRPr lang="en-US" sz="1200" dirty="0"/>
          </a:p>
        </p:txBody>
      </p:sp>
      <p:sp>
        <p:nvSpPr>
          <p:cNvPr id="34" name="Text 32"/>
          <p:cNvSpPr/>
          <p:nvPr/>
        </p:nvSpPr>
        <p:spPr>
          <a:xfrm>
            <a:off x="3401568" y="5404104"/>
            <a:ext cx="1197864" cy="329184"/>
          </a:xfrm>
          <a:prstGeom prst="rect">
            <a:avLst/>
          </a:prstGeom>
          <a:noFill/>
          <a:ln/>
        </p:spPr>
        <p:txBody>
          <a:bodyPr wrap="square" lIns="0" tIns="0" rIns="0" bIns="0" rtlCol="0" anchor="t"/>
          <a:lstStyle/>
          <a:p>
            <a:pPr marL="0" indent="0">
              <a:lnSpc>
                <a:spcPct val="102000"/>
              </a:lnSpc>
              <a:buNone/>
            </a:pPr>
            <a:r>
              <a:rPr lang="en-US" sz="950" dirty="0">
                <a:solidFill>
                  <a:srgbClr val="5B6B86"/>
                </a:solidFill>
                <a:latin typeface="Calibri" pitchFamily="34" charset="0"/>
                <a:ea typeface="Calibri" pitchFamily="34" charset="-122"/>
                <a:cs typeface="Calibri" pitchFamily="34" charset="-120"/>
              </a:rPr>
              <a:t>chat + embed</a:t>
            </a:r>
            <a:endParaRPr lang="en-US" sz="950" dirty="0"/>
          </a:p>
        </p:txBody>
      </p:sp>
      <p:sp>
        <p:nvSpPr>
          <p:cNvPr id="35" name="Shape 33"/>
          <p:cNvSpPr/>
          <p:nvPr/>
        </p:nvSpPr>
        <p:spPr>
          <a:xfrm>
            <a:off x="4864608" y="5074920"/>
            <a:ext cx="1325880" cy="713232"/>
          </a:xfrm>
          <a:prstGeom prst="roundRect">
            <a:avLst>
              <a:gd name="adj" fmla="val 8974"/>
            </a:avLst>
          </a:prstGeom>
          <a:solidFill>
            <a:srgbClr val="FFFFFF"/>
          </a:solidFill>
          <a:ln/>
          <a:effectLst>
            <a:outerShdw blurRad="88900" dist="25400" dir="5400000" algn="bl" rotWithShape="0">
              <a:srgbClr val="1E293B">
                <a:alpha val="12000"/>
              </a:srgbClr>
            </a:outerShdw>
          </a:effectLst>
        </p:spPr>
        <p:txBody>
          <a:bodyPr/>
          <a:lstStyle/>
          <a:p>
            <a:endParaRPr lang="en-CA"/>
          </a:p>
        </p:txBody>
      </p:sp>
      <p:sp>
        <p:nvSpPr>
          <p:cNvPr id="36" name="Text 34"/>
          <p:cNvSpPr/>
          <p:nvPr/>
        </p:nvSpPr>
        <p:spPr>
          <a:xfrm>
            <a:off x="4974336" y="5148072"/>
            <a:ext cx="1106424" cy="27432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Resend</a:t>
            </a:r>
            <a:endParaRPr lang="en-US" sz="1200" dirty="0"/>
          </a:p>
        </p:txBody>
      </p:sp>
      <p:sp>
        <p:nvSpPr>
          <p:cNvPr id="37" name="Text 35"/>
          <p:cNvSpPr/>
          <p:nvPr/>
        </p:nvSpPr>
        <p:spPr>
          <a:xfrm>
            <a:off x="4974336" y="5404104"/>
            <a:ext cx="1106424" cy="329184"/>
          </a:xfrm>
          <a:prstGeom prst="rect">
            <a:avLst/>
          </a:prstGeom>
          <a:noFill/>
          <a:ln/>
        </p:spPr>
        <p:txBody>
          <a:bodyPr wrap="square" lIns="0" tIns="0" rIns="0" bIns="0" rtlCol="0" anchor="t"/>
          <a:lstStyle/>
          <a:p>
            <a:pPr marL="0" indent="0">
              <a:lnSpc>
                <a:spcPct val="102000"/>
              </a:lnSpc>
              <a:buNone/>
            </a:pPr>
            <a:r>
              <a:rPr lang="en-US" sz="950" dirty="0">
                <a:solidFill>
                  <a:srgbClr val="5B6B86"/>
                </a:solidFill>
                <a:latin typeface="Calibri" pitchFamily="34" charset="0"/>
                <a:ea typeface="Calibri" pitchFamily="34" charset="-122"/>
                <a:cs typeface="Calibri" pitchFamily="34" charset="-120"/>
              </a:rPr>
              <a:t>auth email</a:t>
            </a:r>
            <a:endParaRPr lang="en-US" sz="950" dirty="0"/>
          </a:p>
        </p:txBody>
      </p:sp>
      <p:sp>
        <p:nvSpPr>
          <p:cNvPr id="38" name="Shape 36"/>
          <p:cNvSpPr/>
          <p:nvPr/>
        </p:nvSpPr>
        <p:spPr>
          <a:xfrm>
            <a:off x="6355080" y="5074920"/>
            <a:ext cx="1325880" cy="713232"/>
          </a:xfrm>
          <a:prstGeom prst="roundRect">
            <a:avLst>
              <a:gd name="adj" fmla="val 8974"/>
            </a:avLst>
          </a:prstGeom>
          <a:solidFill>
            <a:srgbClr val="FFFFFF"/>
          </a:solidFill>
          <a:ln/>
          <a:effectLst>
            <a:outerShdw blurRad="88900" dist="25400" dir="5400000" algn="bl" rotWithShape="0">
              <a:srgbClr val="1E293B">
                <a:alpha val="12000"/>
              </a:srgbClr>
            </a:outerShdw>
          </a:effectLst>
        </p:spPr>
        <p:txBody>
          <a:bodyPr/>
          <a:lstStyle/>
          <a:p>
            <a:endParaRPr lang="en-CA"/>
          </a:p>
        </p:txBody>
      </p:sp>
      <p:sp>
        <p:nvSpPr>
          <p:cNvPr id="39" name="Text 37"/>
          <p:cNvSpPr/>
          <p:nvPr/>
        </p:nvSpPr>
        <p:spPr>
          <a:xfrm>
            <a:off x="6464808" y="5148072"/>
            <a:ext cx="1106424" cy="27432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Google Forms</a:t>
            </a:r>
            <a:endParaRPr lang="en-US" sz="1200" dirty="0"/>
          </a:p>
        </p:txBody>
      </p:sp>
      <p:sp>
        <p:nvSpPr>
          <p:cNvPr id="40" name="Text 38"/>
          <p:cNvSpPr/>
          <p:nvPr/>
        </p:nvSpPr>
        <p:spPr>
          <a:xfrm>
            <a:off x="6464808" y="5404104"/>
            <a:ext cx="1106424" cy="329184"/>
          </a:xfrm>
          <a:prstGeom prst="rect">
            <a:avLst/>
          </a:prstGeom>
          <a:noFill/>
          <a:ln/>
        </p:spPr>
        <p:txBody>
          <a:bodyPr wrap="square" lIns="0" tIns="0" rIns="0" bIns="0" rtlCol="0" anchor="t"/>
          <a:lstStyle/>
          <a:p>
            <a:pPr marL="0" indent="0">
              <a:lnSpc>
                <a:spcPct val="102000"/>
              </a:lnSpc>
              <a:buNone/>
            </a:pPr>
            <a:r>
              <a:rPr lang="en-US" sz="950" dirty="0">
                <a:solidFill>
                  <a:srgbClr val="5B6B86"/>
                </a:solidFill>
                <a:latin typeface="Calibri" pitchFamily="34" charset="0"/>
                <a:ea typeface="Calibri" pitchFamily="34" charset="-122"/>
                <a:cs typeface="Calibri" pitchFamily="34" charset="-120"/>
              </a:rPr>
              <a:t>feedback</a:t>
            </a:r>
            <a:endParaRPr lang="en-US" sz="950" dirty="0"/>
          </a:p>
        </p:txBody>
      </p:sp>
      <p:sp>
        <p:nvSpPr>
          <p:cNvPr id="41" name="Shape 39"/>
          <p:cNvSpPr/>
          <p:nvPr/>
        </p:nvSpPr>
        <p:spPr>
          <a:xfrm>
            <a:off x="3977640" y="4480560"/>
            <a:ext cx="0" cy="594360"/>
          </a:xfrm>
          <a:prstGeom prst="line">
            <a:avLst/>
          </a:prstGeom>
          <a:noFill/>
          <a:ln w="28575">
            <a:solidFill>
              <a:srgbClr val="3B82F6"/>
            </a:solidFill>
            <a:prstDash val="solid"/>
            <a:tailEnd type="triangle"/>
          </a:ln>
        </p:spPr>
        <p:txBody>
          <a:bodyPr/>
          <a:lstStyle/>
          <a:p>
            <a:endParaRPr lang="en-CA"/>
          </a:p>
        </p:txBody>
      </p:sp>
      <p:sp>
        <p:nvSpPr>
          <p:cNvPr id="42" name="Shape 40"/>
          <p:cNvSpPr/>
          <p:nvPr/>
        </p:nvSpPr>
        <p:spPr>
          <a:xfrm>
            <a:off x="5532120" y="4480560"/>
            <a:ext cx="0" cy="594360"/>
          </a:xfrm>
          <a:prstGeom prst="line">
            <a:avLst/>
          </a:prstGeom>
          <a:noFill/>
          <a:ln w="28575">
            <a:solidFill>
              <a:srgbClr val="94A3B8"/>
            </a:solidFill>
            <a:prstDash val="solid"/>
            <a:tailEnd type="triangle"/>
          </a:ln>
        </p:spPr>
        <p:txBody>
          <a:bodyPr/>
          <a:lstStyle/>
          <a:p>
            <a:endParaRPr lang="en-CA"/>
          </a:p>
        </p:txBody>
      </p:sp>
      <p:sp>
        <p:nvSpPr>
          <p:cNvPr id="43" name="Shape 41"/>
          <p:cNvSpPr/>
          <p:nvPr/>
        </p:nvSpPr>
        <p:spPr>
          <a:xfrm>
            <a:off x="6995160" y="4480560"/>
            <a:ext cx="0" cy="594360"/>
          </a:xfrm>
          <a:prstGeom prst="line">
            <a:avLst/>
          </a:prstGeom>
          <a:noFill/>
          <a:ln w="28575">
            <a:solidFill>
              <a:srgbClr val="16A34A"/>
            </a:solidFill>
            <a:prstDash val="dash"/>
            <a:tailEnd type="triangle"/>
          </a:ln>
        </p:spPr>
        <p:txBody>
          <a:bodyPr/>
          <a:lstStyle/>
          <a:p>
            <a:endParaRPr lang="en-CA"/>
          </a:p>
        </p:txBody>
      </p:sp>
      <p:sp>
        <p:nvSpPr>
          <p:cNvPr id="44" name="Shape 42"/>
          <p:cNvSpPr/>
          <p:nvPr/>
        </p:nvSpPr>
        <p:spPr>
          <a:xfrm>
            <a:off x="8229600" y="4736592"/>
            <a:ext cx="3410712" cy="1755648"/>
          </a:xfrm>
          <a:prstGeom prst="roundRect">
            <a:avLst>
              <a:gd name="adj" fmla="val 5208"/>
            </a:avLst>
          </a:prstGeom>
          <a:solidFill>
            <a:srgbClr val="1E3A8A"/>
          </a:solidFill>
          <a:ln/>
          <a:effectLst>
            <a:outerShdw blurRad="114300" dist="38100" dir="5400000" algn="bl" rotWithShape="0">
              <a:srgbClr val="1E293B">
                <a:alpha val="16000"/>
              </a:srgbClr>
            </a:outerShdw>
          </a:effectLst>
        </p:spPr>
        <p:txBody>
          <a:bodyPr/>
          <a:lstStyle/>
          <a:p>
            <a:endParaRPr lang="en-CA"/>
          </a:p>
        </p:txBody>
      </p:sp>
      <p:sp>
        <p:nvSpPr>
          <p:cNvPr id="45" name="Text 43"/>
          <p:cNvSpPr/>
          <p:nvPr/>
        </p:nvSpPr>
        <p:spPr>
          <a:xfrm>
            <a:off x="8458200" y="4864608"/>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Aurora + pgvector</a:t>
            </a:r>
            <a:endParaRPr lang="en-US" sz="1500" dirty="0"/>
          </a:p>
        </p:txBody>
      </p:sp>
      <p:sp>
        <p:nvSpPr>
          <p:cNvPr id="46" name="Text 44"/>
          <p:cNvSpPr/>
          <p:nvPr/>
        </p:nvSpPr>
        <p:spPr>
          <a:xfrm>
            <a:off x="8458200" y="5248656"/>
            <a:ext cx="3017520" cy="1170432"/>
          </a:xfrm>
          <a:prstGeom prst="rect">
            <a:avLst/>
          </a:prstGeom>
          <a:noFill/>
          <a:ln/>
        </p:spPr>
        <p:txBody>
          <a:bodyPr wrap="square" lIns="0" tIns="0" rIns="0" bIns="0" rtlCol="0" anchor="t"/>
          <a:lstStyle/>
          <a:p>
            <a:pPr marL="0" indent="0">
              <a:lnSpc>
                <a:spcPct val="108000"/>
              </a:lnSpc>
              <a:buNone/>
            </a:pPr>
            <a:r>
              <a:rPr lang="en-US" sz="1150" b="1" dirty="0">
                <a:solidFill>
                  <a:srgbClr val="FFFFFF"/>
                </a:solidFill>
                <a:latin typeface="Calibri" pitchFamily="34" charset="0"/>
                <a:ea typeface="Calibri" pitchFamily="34" charset="-122"/>
                <a:cs typeface="Calibri" pitchFamily="34" charset="-120"/>
              </a:rPr>
              <a:t>One DB, two jobs — </a:t>
            </a:r>
            <a:r>
              <a:rPr lang="en-US" sz="1150" dirty="0">
                <a:solidFill>
                  <a:srgbClr val="DCE7FF"/>
                </a:solidFill>
                <a:latin typeface="Calibri" pitchFamily="34" charset="0"/>
                <a:ea typeface="Calibri" pitchFamily="34" charset="-122"/>
                <a:cs typeface="Calibri" pitchFamily="34" charset="-120"/>
              </a:rPr>
              <a:t>relational data AND the RAG vectors, no second system to sync.
</a:t>
            </a:r>
            <a:r>
              <a:rPr lang="en-US" sz="1150" b="1" dirty="0">
                <a:solidFill>
                  <a:srgbClr val="FFFFFF"/>
                </a:solidFill>
                <a:latin typeface="Calibri" pitchFamily="34" charset="0"/>
                <a:ea typeface="Calibri" pitchFamily="34" charset="-122"/>
                <a:cs typeface="Calibri" pitchFamily="34" charset="-120"/>
              </a:rPr>
              <a:t>No DB password — </a:t>
            </a:r>
            <a:r>
              <a:rPr lang="en-US" sz="1150" dirty="0">
                <a:solidFill>
                  <a:srgbClr val="DCE7FF"/>
                </a:solidFill>
                <a:latin typeface="Calibri" pitchFamily="34" charset="0"/>
                <a:ea typeface="Calibri" pitchFamily="34" charset="-122"/>
                <a:cs typeface="Calibri" pitchFamily="34" charset="-120"/>
              </a:rPr>
              <a:t>Vercel OIDC mints a short-lived AWS IAM token per connection.</a:t>
            </a:r>
            <a:endParaRPr lang="en-US" sz="1150" dirty="0"/>
          </a:p>
        </p:txBody>
      </p:sp>
      <p:pic>
        <p:nvPicPr>
          <p:cNvPr id="47" name="Image 0" descr="EdSynapse logo"/>
          <p:cNvPicPr>
            <a:picLocks noChangeAspect="1"/>
          </p:cNvPicPr>
          <p:nvPr/>
        </p:nvPicPr>
        <p:blipFill>
          <a:blip r:embed="rId3"/>
          <a:stretch>
            <a:fillRect/>
          </a:stretch>
        </p:blipFill>
        <p:spPr>
          <a:xfrm>
            <a:off x="11384280" y="256032"/>
            <a:ext cx="566928" cy="5669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5F2F50-B840-4B31-AEC8-52561915EBD2}"/>
              </a:ext>
            </a:extLst>
          </p:cNvPr>
          <p:cNvSpPr txBox="1"/>
          <p:nvPr/>
        </p:nvSpPr>
        <p:spPr>
          <a:xfrm>
            <a:off x="508000" y="279400"/>
            <a:ext cx="11176000" cy="533400"/>
          </a:xfrm>
          <a:prstGeom prst="rect">
            <a:avLst/>
          </a:prstGeom>
          <a:noFill/>
          <a:ln>
            <a:noFill/>
          </a:ln>
        </p:spPr>
        <p:txBody>
          <a:bodyPr vertOverflow="overflow" vert="horz" wrap="square" rtlCol="0" anchor="t">
            <a:spAutoFit/>
          </a:bodyPr>
          <a:lstStyle/>
          <a:p>
            <a:pPr algn="l"/>
            <a:r>
              <a:rPr lang="en-US" sz="2800" b="1">
                <a:solidFill>
                  <a:srgbClr val="1E3A8A"/>
                </a:solidFill>
                <a:latin typeface="Cambria"/>
                <a:ea typeface="Cambria"/>
              </a:rPr>
              <a:t>How a tutor turn works — live request flow</a:t>
            </a:r>
            <a:endParaRPr lang="en-CA" sz="2800" b="1">
              <a:solidFill>
                <a:srgbClr val="1E3A8A"/>
              </a:solidFill>
              <a:latin typeface="Cambria"/>
              <a:ea typeface="Cambria"/>
            </a:endParaRPr>
          </a:p>
        </p:txBody>
      </p:sp>
      <p:sp>
        <p:nvSpPr>
          <p:cNvPr id="3" name="TextBox 2">
            <a:extLst>
              <a:ext uri="{FF2B5EF4-FFF2-40B4-BE49-F238E27FC236}">
                <a16:creationId xmlns:a16="http://schemas.microsoft.com/office/drawing/2014/main" id="{5C4721F0-45BC-426B-84DB-DDE1CF62C086}"/>
              </a:ext>
            </a:extLst>
          </p:cNvPr>
          <p:cNvSpPr txBox="1"/>
          <p:nvPr/>
        </p:nvSpPr>
        <p:spPr>
          <a:xfrm>
            <a:off x="508000" y="812800"/>
            <a:ext cx="11049000" cy="304800"/>
          </a:xfrm>
          <a:prstGeom prst="rect">
            <a:avLst/>
          </a:prstGeom>
          <a:noFill/>
          <a:ln>
            <a:noFill/>
          </a:ln>
        </p:spPr>
        <p:txBody>
          <a:bodyPr vertOverflow="overflow" vert="horz" wrap="square" rtlCol="0" anchor="t">
            <a:spAutoFit/>
          </a:bodyPr>
          <a:lstStyle/>
          <a:p>
            <a:pPr algn="l"/>
            <a:r>
              <a:rPr lang="en-US" sz="1300">
                <a:solidFill>
                  <a:srgbClr val="475569"/>
                </a:solidFill>
                <a:latin typeface="Calibri"/>
                <a:ea typeface="Calibri"/>
                <a:cs typeface="Calibri"/>
              </a:rPr>
              <a:t>Every question is grounded in the learner's own sources and recent conversation before the model ever responds.</a:t>
            </a:r>
            <a:endParaRPr lang="en-CA" sz="1300">
              <a:solidFill>
                <a:srgbClr val="475569"/>
              </a:solidFill>
              <a:latin typeface="Calibri"/>
              <a:ea typeface="Calibri"/>
              <a:cs typeface="Calibri"/>
            </a:endParaRPr>
          </a:p>
        </p:txBody>
      </p:sp>
      <p:sp>
        <p:nvSpPr>
          <p:cNvPr id="4" name="Rectangle 3">
            <a:extLst>
              <a:ext uri="{FF2B5EF4-FFF2-40B4-BE49-F238E27FC236}">
                <a16:creationId xmlns:a16="http://schemas.microsoft.com/office/drawing/2014/main" id="{C5B08EF9-79C0-4E9F-B431-1BE0426DFDA7}"/>
              </a:ext>
            </a:extLst>
          </p:cNvPr>
          <p:cNvSpPr/>
          <p:nvPr/>
        </p:nvSpPr>
        <p:spPr>
          <a:xfrm>
            <a:off x="1397000" y="2667000"/>
            <a:ext cx="6477000" cy="1244600"/>
          </a:xfrm>
          <a:prstGeom prst="rect">
            <a:avLst/>
          </a:prstGeom>
          <a:solidFill>
            <a:srgbClr val="FFFBEA"/>
          </a:solidFill>
          <a:ln w="12700" cap="flat" cmpd="sng" algn="ctr">
            <a:solidFill>
              <a:srgbClr val="F0D9A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90000" tIns="18000" rIns="36000" bIns="18000" anchor="t">
            <a:normAutofit/>
          </a:bodyPr>
          <a:lstStyle/>
          <a:p>
            <a:pPr algn="l"/>
            <a:r>
              <a:rPr lang="en-US" sz="1050" b="1" dirty="0">
                <a:solidFill>
                  <a:srgbClr val="B45309"/>
                </a:solidFill>
                <a:latin typeface="Calibri"/>
              </a:rPr>
              <a:t>RETRIEVAL AT PROMPT TIME</a:t>
            </a:r>
          </a:p>
        </p:txBody>
      </p:sp>
      <p:sp>
        <p:nvSpPr>
          <p:cNvPr id="5" name="Rectangle: Rounded Corners 4">
            <a:extLst>
              <a:ext uri="{FF2B5EF4-FFF2-40B4-BE49-F238E27FC236}">
                <a16:creationId xmlns:a16="http://schemas.microsoft.com/office/drawing/2014/main" id="{36EB7E4D-E223-4033-A7EF-EBBB47EE627F}"/>
              </a:ext>
            </a:extLst>
          </p:cNvPr>
          <p:cNvSpPr/>
          <p:nvPr/>
        </p:nvSpPr>
        <p:spPr>
          <a:xfrm>
            <a:off x="1524000" y="1219200"/>
            <a:ext cx="3175000" cy="584200"/>
          </a:xfrm>
          <a:prstGeom prst="roundRect">
            <a:avLst/>
          </a:prstGeom>
          <a:solidFill>
            <a:srgbClr val="F0F6FF"/>
          </a:solidFill>
          <a:ln w="12700" cap="flat" cmpd="sng" algn="ctr">
            <a:solidFill>
              <a:srgbClr val="D5DE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300" b="1" dirty="0">
                <a:solidFill>
                  <a:srgbClr val="0F172A"/>
                </a:solidFill>
                <a:latin typeface="Calibri"/>
              </a:rPr>
              <a:t>Student message</a:t>
            </a:r>
          </a:p>
          <a:p>
            <a:pPr algn="ctr"/>
            <a:r>
              <a:rPr lang="en-US" sz="1000" b="0" dirty="0">
                <a:solidFill>
                  <a:srgbClr val="64748B"/>
                </a:solidFill>
                <a:latin typeface="Calibri"/>
              </a:rPr>
              <a:t>+ topic + preferences</a:t>
            </a:r>
          </a:p>
        </p:txBody>
      </p:sp>
      <p:sp>
        <p:nvSpPr>
          <p:cNvPr id="6" name="Rectangle: Rounded Corners 5">
            <a:extLst>
              <a:ext uri="{FF2B5EF4-FFF2-40B4-BE49-F238E27FC236}">
                <a16:creationId xmlns:a16="http://schemas.microsoft.com/office/drawing/2014/main" id="{2E81F833-D291-4CFF-952D-8F3843CEC84F}"/>
              </a:ext>
            </a:extLst>
          </p:cNvPr>
          <p:cNvSpPr/>
          <p:nvPr/>
        </p:nvSpPr>
        <p:spPr>
          <a:xfrm>
            <a:off x="1524000" y="1981200"/>
            <a:ext cx="3175000" cy="584200"/>
          </a:xfrm>
          <a:prstGeom prst="roundRect">
            <a:avLst/>
          </a:prstGeom>
          <a:solidFill>
            <a:srgbClr val="F0F6FF"/>
          </a:solidFill>
          <a:ln w="12700" cap="flat" cmpd="sng" algn="ctr">
            <a:solidFill>
              <a:srgbClr val="D5DE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300" b="1" dirty="0">
                <a:solidFill>
                  <a:srgbClr val="0F172A"/>
                </a:solidFill>
                <a:latin typeface="Calibri"/>
              </a:rPr>
              <a:t>Prompt assembler</a:t>
            </a:r>
          </a:p>
          <a:p>
            <a:pPr algn="ctr"/>
            <a:r>
              <a:rPr lang="en-US" sz="1000" b="0" dirty="0">
                <a:solidFill>
                  <a:srgbClr val="64748B"/>
                </a:solidFill>
                <a:latin typeface="Calibri"/>
              </a:rPr>
              <a:t>/api tutor route</a:t>
            </a:r>
          </a:p>
        </p:txBody>
      </p:sp>
      <p:sp>
        <p:nvSpPr>
          <p:cNvPr id="7" name="Rectangle: Rounded Corners 6">
            <a:extLst>
              <a:ext uri="{FF2B5EF4-FFF2-40B4-BE49-F238E27FC236}">
                <a16:creationId xmlns:a16="http://schemas.microsoft.com/office/drawing/2014/main" id="{E5381DF3-256A-44E8-9B9D-9CBAE3125ACB}"/>
              </a:ext>
            </a:extLst>
          </p:cNvPr>
          <p:cNvSpPr/>
          <p:nvPr/>
        </p:nvSpPr>
        <p:spPr>
          <a:xfrm>
            <a:off x="1549400" y="2997200"/>
            <a:ext cx="2984500" cy="762000"/>
          </a:xfrm>
          <a:prstGeom prst="roundRect">
            <a:avLst/>
          </a:prstGeom>
          <a:solidFill>
            <a:srgbClr val="FFFFFF"/>
          </a:solidFill>
          <a:ln w="12700" cap="flat" cmpd="sng" algn="ctr">
            <a:solidFill>
              <a:srgbClr val="E6CF9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200" b="1" dirty="0">
                <a:solidFill>
                  <a:srgbClr val="0F172A"/>
                </a:solidFill>
                <a:latin typeface="Calibri"/>
              </a:rPr>
              <a:t>Content RAG — pgvector</a:t>
            </a:r>
          </a:p>
          <a:p>
            <a:pPr algn="ctr"/>
            <a:r>
              <a:rPr lang="en-US" sz="1000" b="0" dirty="0">
                <a:solidFill>
                  <a:srgbClr val="64748B"/>
                </a:solidFill>
                <a:latin typeface="Calibri"/>
              </a:rPr>
              <a:t>source_chunks · authentic material</a:t>
            </a:r>
          </a:p>
        </p:txBody>
      </p:sp>
      <p:sp>
        <p:nvSpPr>
          <p:cNvPr id="8" name="Rectangle: Rounded Corners 7">
            <a:extLst>
              <a:ext uri="{FF2B5EF4-FFF2-40B4-BE49-F238E27FC236}">
                <a16:creationId xmlns:a16="http://schemas.microsoft.com/office/drawing/2014/main" id="{EE30F7EC-CDA1-414F-85A7-8BB4BA2E656E}"/>
              </a:ext>
            </a:extLst>
          </p:cNvPr>
          <p:cNvSpPr/>
          <p:nvPr/>
        </p:nvSpPr>
        <p:spPr>
          <a:xfrm>
            <a:off x="4737100" y="2997200"/>
            <a:ext cx="2984500" cy="762000"/>
          </a:xfrm>
          <a:prstGeom prst="roundRect">
            <a:avLst/>
          </a:prstGeom>
          <a:solidFill>
            <a:srgbClr val="FFFFFF"/>
          </a:solidFill>
          <a:ln w="12700" cap="flat" cmpd="sng" algn="ctr">
            <a:solidFill>
              <a:srgbClr val="E6CF9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200" b="1" dirty="0">
                <a:solidFill>
                  <a:srgbClr val="0F172A"/>
                </a:solidFill>
                <a:latin typeface="Calibri"/>
              </a:rPr>
              <a:t>Conversation history</a:t>
            </a:r>
          </a:p>
          <a:p>
            <a:pPr algn="ctr"/>
            <a:r>
              <a:rPr lang="en-US" sz="1000" b="0" dirty="0">
                <a:solidFill>
                  <a:srgbClr val="64748B"/>
                </a:solidFill>
                <a:latin typeface="Calibri"/>
              </a:rPr>
              <a:t>tutor_sessions.messages · recent turns</a:t>
            </a:r>
          </a:p>
        </p:txBody>
      </p:sp>
      <p:sp>
        <p:nvSpPr>
          <p:cNvPr id="9" name="Rectangle: Rounded Corners 8">
            <a:extLst>
              <a:ext uri="{FF2B5EF4-FFF2-40B4-BE49-F238E27FC236}">
                <a16:creationId xmlns:a16="http://schemas.microsoft.com/office/drawing/2014/main" id="{69652215-C8D6-44D0-9284-D70037AB3026}"/>
              </a:ext>
            </a:extLst>
          </p:cNvPr>
          <p:cNvSpPr/>
          <p:nvPr/>
        </p:nvSpPr>
        <p:spPr>
          <a:xfrm>
            <a:off x="1524000" y="4089400"/>
            <a:ext cx="3175000" cy="584200"/>
          </a:xfrm>
          <a:prstGeom prst="roundRect">
            <a:avLst/>
          </a:prstGeom>
          <a:solidFill>
            <a:srgbClr val="F0F6FF"/>
          </a:solidFill>
          <a:ln w="12700" cap="flat" cmpd="sng" algn="ctr">
            <a:solidFill>
              <a:srgbClr val="D5DE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300" b="1" dirty="0">
                <a:solidFill>
                  <a:srgbClr val="0F172A"/>
                </a:solidFill>
                <a:latin typeface="Calibri"/>
              </a:rPr>
              <a:t>Grounded prompt</a:t>
            </a:r>
          </a:p>
          <a:p>
            <a:pPr algn="ctr"/>
            <a:r>
              <a:rPr lang="en-US" sz="1000" b="0" dirty="0">
                <a:solidFill>
                  <a:srgbClr val="64748B"/>
                </a:solidFill>
                <a:latin typeface="Calibri"/>
              </a:rPr>
              <a:t>sources + history + modality/pace</a:t>
            </a:r>
          </a:p>
        </p:txBody>
      </p:sp>
      <p:sp>
        <p:nvSpPr>
          <p:cNvPr id="10" name="Rectangle: Rounded Corners 9">
            <a:extLst>
              <a:ext uri="{FF2B5EF4-FFF2-40B4-BE49-F238E27FC236}">
                <a16:creationId xmlns:a16="http://schemas.microsoft.com/office/drawing/2014/main" id="{71465898-C2CD-4DFE-A45B-831112B72061}"/>
              </a:ext>
            </a:extLst>
          </p:cNvPr>
          <p:cNvSpPr/>
          <p:nvPr/>
        </p:nvSpPr>
        <p:spPr>
          <a:xfrm>
            <a:off x="1524000" y="4851400"/>
            <a:ext cx="3175000" cy="533400"/>
          </a:xfrm>
          <a:prstGeom prst="roundRect">
            <a:avLst/>
          </a:prstGeom>
          <a:solidFill>
            <a:srgbClr val="E8ECFB"/>
          </a:solidFill>
          <a:ln w="12700" cap="flat" cmpd="sng" algn="ctr">
            <a:solidFill>
              <a:srgbClr val="C3CBE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300" b="1" dirty="0">
                <a:solidFill>
                  <a:srgbClr val="0F172A"/>
                </a:solidFill>
                <a:latin typeface="Calibri"/>
              </a:rPr>
              <a:t>OpenAI — streaming chat</a:t>
            </a:r>
          </a:p>
        </p:txBody>
      </p:sp>
      <p:sp>
        <p:nvSpPr>
          <p:cNvPr id="11" name="Rectangle: Rounded Corners 10">
            <a:extLst>
              <a:ext uri="{FF2B5EF4-FFF2-40B4-BE49-F238E27FC236}">
                <a16:creationId xmlns:a16="http://schemas.microsoft.com/office/drawing/2014/main" id="{D5E9D936-BEAB-4A8F-A3B8-D1B2B797D0D2}"/>
              </a:ext>
            </a:extLst>
          </p:cNvPr>
          <p:cNvSpPr/>
          <p:nvPr/>
        </p:nvSpPr>
        <p:spPr>
          <a:xfrm>
            <a:off x="1397000" y="5588000"/>
            <a:ext cx="2946400" cy="711200"/>
          </a:xfrm>
          <a:prstGeom prst="roundRect">
            <a:avLst/>
          </a:prstGeom>
          <a:solidFill>
            <a:srgbClr val="F0F6FF"/>
          </a:solidFill>
          <a:ln w="12700" cap="flat" cmpd="sng" algn="ctr">
            <a:solidFill>
              <a:srgbClr val="D5DE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300" b="1" dirty="0">
                <a:solidFill>
                  <a:srgbClr val="0F172A"/>
                </a:solidFill>
                <a:latin typeface="Calibri"/>
              </a:rPr>
              <a:t>SSE reply</a:t>
            </a:r>
          </a:p>
          <a:p>
            <a:pPr algn="ctr"/>
            <a:r>
              <a:rPr lang="en-US" sz="1000" b="0" dirty="0">
                <a:solidFill>
                  <a:srgbClr val="64748B"/>
                </a:solidFill>
                <a:latin typeface="Calibri"/>
              </a:rPr>
              <a:t>+ source citations</a:t>
            </a:r>
          </a:p>
        </p:txBody>
      </p:sp>
      <p:sp>
        <p:nvSpPr>
          <p:cNvPr id="12" name="Rectangle: Rounded Corners 11">
            <a:extLst>
              <a:ext uri="{FF2B5EF4-FFF2-40B4-BE49-F238E27FC236}">
                <a16:creationId xmlns:a16="http://schemas.microsoft.com/office/drawing/2014/main" id="{EA071A7E-9A31-473D-B526-7EC58547C24E}"/>
              </a:ext>
            </a:extLst>
          </p:cNvPr>
          <p:cNvSpPr/>
          <p:nvPr/>
        </p:nvSpPr>
        <p:spPr>
          <a:xfrm>
            <a:off x="4572000" y="5588000"/>
            <a:ext cx="3175000" cy="711200"/>
          </a:xfrm>
          <a:prstGeom prst="roundRect">
            <a:avLst/>
          </a:prstGeom>
          <a:solidFill>
            <a:srgbClr val="F0F6FF"/>
          </a:solidFill>
          <a:ln w="12700" cap="flat" cmpd="sng" algn="ctr">
            <a:solidFill>
              <a:srgbClr val="D5DE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300" b="1" dirty="0">
                <a:solidFill>
                  <a:srgbClr val="0F172A"/>
                </a:solidFill>
                <a:latin typeface="Calibri"/>
              </a:rPr>
              <a:t>Append turn</a:t>
            </a:r>
          </a:p>
          <a:p>
            <a:pPr algn="ctr"/>
            <a:r>
              <a:rPr lang="en-US" sz="1000" b="0" dirty="0">
                <a:solidFill>
                  <a:srgbClr val="64748B"/>
                </a:solidFill>
                <a:latin typeface="Calibri"/>
              </a:rPr>
              <a:t>→ tutor_sessions.messages</a:t>
            </a:r>
          </a:p>
        </p:txBody>
      </p:sp>
      <p:sp>
        <p:nvSpPr>
          <p:cNvPr id="13" name="Cylinder 12">
            <a:extLst>
              <a:ext uri="{FF2B5EF4-FFF2-40B4-BE49-F238E27FC236}">
                <a16:creationId xmlns:a16="http://schemas.microsoft.com/office/drawing/2014/main" id="{BDE9E95D-3E32-4BF9-B7D4-72048FE4AA42}"/>
              </a:ext>
            </a:extLst>
          </p:cNvPr>
          <p:cNvSpPr/>
          <p:nvPr/>
        </p:nvSpPr>
        <p:spPr>
          <a:xfrm>
            <a:off x="8890000" y="5461000"/>
            <a:ext cx="2286000" cy="1168400"/>
          </a:xfrm>
          <a:prstGeom prst="can">
            <a:avLst/>
          </a:prstGeom>
          <a:solidFill>
            <a:srgbClr val="4F46E5"/>
          </a:solidFill>
          <a:ln w="12700" cap="flat" cmpd="sng" algn="ctr">
            <a:solidFill>
              <a:srgbClr val="3730A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36000" tIns="18000" rIns="36000" bIns="18000" anchor="ctr">
            <a:normAutofit/>
          </a:bodyPr>
          <a:lstStyle/>
          <a:p>
            <a:pPr algn="ctr"/>
            <a:r>
              <a:rPr lang="en-US" sz="1300" b="1" dirty="0">
                <a:solidFill>
                  <a:srgbClr val="FFFFFF"/>
                </a:solidFill>
                <a:latin typeface="Calibri"/>
              </a:rPr>
              <a:t>AWS Aurora</a:t>
            </a:r>
          </a:p>
          <a:p>
            <a:pPr algn="ctr"/>
            <a:r>
              <a:rPr lang="en-US" sz="1050" b="0" dirty="0">
                <a:solidFill>
                  <a:srgbClr val="E0E2FF"/>
                </a:solidFill>
                <a:latin typeface="Calibri"/>
              </a:rPr>
              <a:t>+ pgvector</a:t>
            </a:r>
          </a:p>
        </p:txBody>
      </p:sp>
      <p:cxnSp>
        <p:nvCxnSpPr>
          <p:cNvPr id="200" name="c200"/>
          <p:cNvCxnSpPr/>
          <p:nvPr/>
        </p:nvCxnSpPr>
        <p:spPr>
          <a:xfrm>
            <a:off x="3111500" y="1803400"/>
            <a:ext cx="0" cy="177800"/>
          </a:xfrm>
          <a:prstGeom prst="straightConnector1">
            <a:avLst/>
          </a:prstGeom>
          <a:ln w="19050" cap="rnd">
            <a:solidFill>
              <a:srgbClr val="64748B"/>
            </a:solidFill>
            <a:tailEnd type="triangle" w="med" len="med"/>
          </a:ln>
        </p:spPr>
        <p:style>
          <a:lnRef idx="1">
            <a:scrgbClr r="0" g="0" b="0"/>
          </a:lnRef>
          <a:fillRef idx="0">
            <a:scrgbClr r="0" g="0" b="0"/>
          </a:fillRef>
          <a:effectRef idx="0">
            <a:scrgbClr r="0" g="0" b="0"/>
          </a:effectRef>
          <a:fontRef idx="minor"/>
        </p:style>
      </p:cxnSp>
      <p:cxnSp>
        <p:nvCxnSpPr>
          <p:cNvPr id="203" name="c203"/>
          <p:cNvCxnSpPr/>
          <p:nvPr/>
        </p:nvCxnSpPr>
        <p:spPr>
          <a:xfrm flipH="1">
            <a:off x="2857500" y="3759200"/>
            <a:ext cx="190500" cy="330200"/>
          </a:xfrm>
          <a:prstGeom prst="straightConnector1">
            <a:avLst/>
          </a:prstGeom>
          <a:ln w="19050" cap="rnd">
            <a:solidFill>
              <a:srgbClr val="64748B"/>
            </a:solidFill>
            <a:tailEnd type="triangle" w="med" len="med"/>
          </a:ln>
        </p:spPr>
        <p:style>
          <a:lnRef idx="1">
            <a:scrgbClr r="0" g="0" b="0"/>
          </a:lnRef>
          <a:fillRef idx="0">
            <a:scrgbClr r="0" g="0" b="0"/>
          </a:fillRef>
          <a:effectRef idx="0">
            <a:scrgbClr r="0" g="0" b="0"/>
          </a:effectRef>
          <a:fontRef idx="minor"/>
        </p:style>
      </p:cxnSp>
      <p:cxnSp>
        <p:nvCxnSpPr>
          <p:cNvPr id="204" name="c204"/>
          <p:cNvCxnSpPr/>
          <p:nvPr/>
        </p:nvCxnSpPr>
        <p:spPr>
          <a:xfrm flipH="1">
            <a:off x="3619500" y="3759200"/>
            <a:ext cx="2603500" cy="330200"/>
          </a:xfrm>
          <a:prstGeom prst="straightConnector1">
            <a:avLst/>
          </a:prstGeom>
          <a:ln w="19050" cap="rnd">
            <a:solidFill>
              <a:srgbClr val="64748B"/>
            </a:solidFill>
            <a:tailEnd type="triangle" w="med" len="med"/>
          </a:ln>
        </p:spPr>
        <p:style>
          <a:lnRef idx="1">
            <a:scrgbClr r="0" g="0" b="0"/>
          </a:lnRef>
          <a:fillRef idx="0">
            <a:scrgbClr r="0" g="0" b="0"/>
          </a:fillRef>
          <a:effectRef idx="0">
            <a:scrgbClr r="0" g="0" b="0"/>
          </a:effectRef>
          <a:fontRef idx="minor"/>
        </p:style>
      </p:cxnSp>
      <p:cxnSp>
        <p:nvCxnSpPr>
          <p:cNvPr id="205" name="c205"/>
          <p:cNvCxnSpPr/>
          <p:nvPr/>
        </p:nvCxnSpPr>
        <p:spPr>
          <a:xfrm>
            <a:off x="3111500" y="4673600"/>
            <a:ext cx="0" cy="177800"/>
          </a:xfrm>
          <a:prstGeom prst="straightConnector1">
            <a:avLst/>
          </a:prstGeom>
          <a:ln w="19050" cap="rnd">
            <a:solidFill>
              <a:srgbClr val="64748B"/>
            </a:solidFill>
            <a:tailEnd type="triangle" w="med" len="med"/>
          </a:ln>
        </p:spPr>
        <p:style>
          <a:lnRef idx="1">
            <a:scrgbClr r="0" g="0" b="0"/>
          </a:lnRef>
          <a:fillRef idx="0">
            <a:scrgbClr r="0" g="0" b="0"/>
          </a:fillRef>
          <a:effectRef idx="0">
            <a:scrgbClr r="0" g="0" b="0"/>
          </a:effectRef>
          <a:fontRef idx="minor"/>
        </p:style>
      </p:cxnSp>
      <p:cxnSp>
        <p:nvCxnSpPr>
          <p:cNvPr id="206" name="c206"/>
          <p:cNvCxnSpPr/>
          <p:nvPr/>
        </p:nvCxnSpPr>
        <p:spPr>
          <a:xfrm flipH="1">
            <a:off x="2438400" y="5384800"/>
            <a:ext cx="165100" cy="203200"/>
          </a:xfrm>
          <a:prstGeom prst="straightConnector1">
            <a:avLst/>
          </a:prstGeom>
          <a:ln w="19050" cap="rnd">
            <a:solidFill>
              <a:srgbClr val="64748B"/>
            </a:solidFill>
            <a:tailEnd type="triangle" w="med" len="med"/>
          </a:ln>
        </p:spPr>
        <p:style>
          <a:lnRef idx="1">
            <a:scrgbClr r="0" g="0" b="0"/>
          </a:lnRef>
          <a:fillRef idx="0">
            <a:scrgbClr r="0" g="0" b="0"/>
          </a:fillRef>
          <a:effectRef idx="0">
            <a:scrgbClr r="0" g="0" b="0"/>
          </a:effectRef>
          <a:fontRef idx="minor"/>
        </p:style>
      </p:cxnSp>
      <p:cxnSp>
        <p:nvCxnSpPr>
          <p:cNvPr id="207" name="c207"/>
          <p:cNvCxnSpPr/>
          <p:nvPr/>
        </p:nvCxnSpPr>
        <p:spPr>
          <a:xfrm>
            <a:off x="3810000" y="5384800"/>
            <a:ext cx="1905000" cy="203200"/>
          </a:xfrm>
          <a:prstGeom prst="straightConnector1">
            <a:avLst/>
          </a:prstGeom>
          <a:ln w="19050" cap="rnd">
            <a:solidFill>
              <a:srgbClr val="64748B"/>
            </a:solidFill>
            <a:tailEnd type="triangle" w="med" len="med"/>
          </a:ln>
        </p:spPr>
        <p:style>
          <a:lnRef idx="1">
            <a:scrgbClr r="0" g="0" b="0"/>
          </a:lnRef>
          <a:fillRef idx="0">
            <a:scrgbClr r="0" g="0" b="0"/>
          </a:fillRef>
          <a:effectRef idx="0">
            <a:scrgbClr r="0" g="0" b="0"/>
          </a:effectRef>
          <a:fontRef idx="minor"/>
        </p:style>
      </p:cxnSp>
      <p:cxnSp>
        <p:nvCxnSpPr>
          <p:cNvPr id="208" name="c208"/>
          <p:cNvCxnSpPr/>
          <p:nvPr/>
        </p:nvCxnSpPr>
        <p:spPr>
          <a:xfrm>
            <a:off x="4318000" y="3759200"/>
            <a:ext cx="4724400" cy="1981200"/>
          </a:xfrm>
          <a:prstGeom prst="straightConnector1">
            <a:avLst/>
          </a:prstGeom>
          <a:ln w="12700" cap="rnd">
            <a:solidFill>
              <a:srgbClr val="94A3B8"/>
            </a:solidFill>
            <a:prstDash val="dash"/>
            <a:tailEnd type="triangle" w="med" len="med"/>
          </a:ln>
        </p:spPr>
        <p:style>
          <a:lnRef idx="1">
            <a:scrgbClr r="0" g="0" b="0"/>
          </a:lnRef>
          <a:fillRef idx="0">
            <a:scrgbClr r="0" g="0" b="0"/>
          </a:fillRef>
          <a:effectRef idx="0">
            <a:scrgbClr r="0" g="0" b="0"/>
          </a:effectRef>
          <a:fontRef idx="minor"/>
        </p:style>
      </p:cxnSp>
      <p:cxnSp>
        <p:nvCxnSpPr>
          <p:cNvPr id="209" name="c209"/>
          <p:cNvCxnSpPr/>
          <p:nvPr/>
        </p:nvCxnSpPr>
        <p:spPr>
          <a:xfrm>
            <a:off x="7112000" y="3810000"/>
            <a:ext cx="2311400" cy="1803400"/>
          </a:xfrm>
          <a:prstGeom prst="straightConnector1">
            <a:avLst/>
          </a:prstGeom>
          <a:ln w="12700" cap="rnd">
            <a:solidFill>
              <a:srgbClr val="94A3B8"/>
            </a:solidFill>
            <a:prstDash val="dash"/>
            <a:tailEnd type="triangle" w="med" len="med"/>
          </a:ln>
        </p:spPr>
        <p:style>
          <a:lnRef idx="1">
            <a:scrgbClr r="0" g="0" b="0"/>
          </a:lnRef>
          <a:fillRef idx="0">
            <a:scrgbClr r="0" g="0" b="0"/>
          </a:fillRef>
          <a:effectRef idx="0">
            <a:scrgbClr r="0" g="0" b="0"/>
          </a:effectRef>
          <a:fontRef idx="minor"/>
        </p:style>
      </p:cxnSp>
      <p:cxnSp>
        <p:nvCxnSpPr>
          <p:cNvPr id="210" name="c210"/>
          <p:cNvCxnSpPr/>
          <p:nvPr/>
        </p:nvCxnSpPr>
        <p:spPr>
          <a:xfrm>
            <a:off x="7747000" y="5943600"/>
            <a:ext cx="1143000" cy="0"/>
          </a:xfrm>
          <a:prstGeom prst="straightConnector1">
            <a:avLst/>
          </a:prstGeom>
          <a:ln w="12700" cap="rnd">
            <a:solidFill>
              <a:srgbClr val="94A3B8"/>
            </a:solidFill>
            <a:prstDash val="dash"/>
            <a:tailEnd type="triangle" w="med" len="med"/>
          </a:ln>
        </p:spPr>
        <p:style>
          <a:lnRef idx="1">
            <a:scrgbClr r="0" g="0" b="0"/>
          </a:lnRef>
          <a:fillRef idx="0">
            <a:scrgbClr r="0" g="0" b="0"/>
          </a:fillRef>
          <a:effectRef idx="0">
            <a:scrgbClr r="0" g="0" b="0"/>
          </a:effectRef>
          <a:fontRef idx="minor"/>
        </p:style>
      </p:cxnSp>
      <p:sp>
        <p:nvSpPr>
          <p:cNvPr id="211" name="lbl211"/>
          <p:cNvSpPr txBox="1"/>
          <p:nvPr/>
        </p:nvSpPr>
        <p:spPr>
          <a:xfrm>
            <a:off x="5969000" y="4470400"/>
            <a:ext cx="762000" cy="254000"/>
          </a:xfrm>
          <a:prstGeom prst="rect">
            <a:avLst/>
          </a:prstGeom>
          <a:solidFill>
            <a:srgbClr val="FFFFFF"/>
          </a:solidFill>
        </p:spPr>
        <p:txBody>
          <a:bodyPr wrap="none" lIns="18000" tIns="9000" rIns="18000" bIns="9000" anchor="ctr"/>
          <a:lstStyle/>
          <a:p>
            <a:pPr algn="ctr"/>
            <a:r>
              <a:rPr lang="en-US" sz="1000" b="0" i="1" dirty="0">
                <a:solidFill>
                  <a:srgbClr val="475569"/>
                </a:solidFill>
                <a:latin typeface="Calibri"/>
              </a:rPr>
              <a:t>reads</a:t>
            </a:r>
          </a:p>
        </p:txBody>
      </p:sp>
      <p:sp>
        <p:nvSpPr>
          <p:cNvPr id="212" name="lbl212"/>
          <p:cNvSpPr txBox="1"/>
          <p:nvPr/>
        </p:nvSpPr>
        <p:spPr>
          <a:xfrm>
            <a:off x="8255000" y="4572000"/>
            <a:ext cx="762000" cy="254000"/>
          </a:xfrm>
          <a:prstGeom prst="rect">
            <a:avLst/>
          </a:prstGeom>
          <a:solidFill>
            <a:srgbClr val="FFFFFF"/>
          </a:solidFill>
        </p:spPr>
        <p:txBody>
          <a:bodyPr wrap="none" lIns="18000" tIns="9000" rIns="18000" bIns="9000" anchor="ctr"/>
          <a:lstStyle/>
          <a:p>
            <a:pPr algn="ctr"/>
            <a:r>
              <a:rPr lang="en-US" sz="1000" b="0" i="1" dirty="0">
                <a:solidFill>
                  <a:srgbClr val="475569"/>
                </a:solidFill>
                <a:latin typeface="Calibri"/>
              </a:rPr>
              <a:t>reads</a:t>
            </a:r>
          </a:p>
        </p:txBody>
      </p:sp>
      <p:sp>
        <p:nvSpPr>
          <p:cNvPr id="213" name="lbl213"/>
          <p:cNvSpPr txBox="1"/>
          <p:nvPr/>
        </p:nvSpPr>
        <p:spPr>
          <a:xfrm>
            <a:off x="7975600" y="5740400"/>
            <a:ext cx="812800" cy="254000"/>
          </a:xfrm>
          <a:prstGeom prst="rect">
            <a:avLst/>
          </a:prstGeom>
          <a:solidFill>
            <a:srgbClr val="FFFFFF"/>
          </a:solidFill>
        </p:spPr>
        <p:txBody>
          <a:bodyPr wrap="none" lIns="18000" tIns="9000" rIns="18000" bIns="9000" anchor="ctr"/>
          <a:lstStyle/>
          <a:p>
            <a:pPr algn="ctr"/>
            <a:r>
              <a:rPr lang="en-US" sz="1000" b="0" i="1" dirty="0">
                <a:solidFill>
                  <a:srgbClr val="475569"/>
                </a:solidFill>
                <a:latin typeface="Calibri"/>
              </a:rPr>
              <a:t>writes</a:t>
            </a:r>
          </a:p>
        </p:txBody>
      </p:sp>
      <p:cxnSp>
        <p:nvCxnSpPr>
          <p:cNvPr id="300" name="c300"/>
          <p:cNvCxnSpPr/>
          <p:nvPr/>
        </p:nvCxnSpPr>
        <p:spPr>
          <a:xfrm>
            <a:off x="3962400" y="2578100"/>
            <a:ext cx="330200" cy="406400"/>
          </a:xfrm>
          <a:prstGeom prst="straightConnector1">
            <a:avLst/>
          </a:prstGeom>
          <a:ln w="19050" cap="rnd">
            <a:solidFill>
              <a:srgbClr val="64748B"/>
            </a:solidFill>
            <a:tailEnd type="triangle" w="med" len="med"/>
          </a:ln>
        </p:spPr>
        <p:style>
          <a:lnRef idx="1">
            <a:scrgbClr r="0" g="0" b="0"/>
          </a:lnRef>
          <a:fillRef idx="0">
            <a:scrgbClr r="0" g="0" b="0"/>
          </a:fillRef>
          <a:effectRef idx="0">
            <a:scrgbClr r="0" g="0" b="0"/>
          </a:effectRef>
          <a:fontRef idx="minor"/>
        </p:style>
      </p:cxnSp>
      <p:cxnSp>
        <p:nvCxnSpPr>
          <p:cNvPr id="301" name="c301"/>
          <p:cNvCxnSpPr/>
          <p:nvPr/>
        </p:nvCxnSpPr>
        <p:spPr>
          <a:xfrm>
            <a:off x="4470400" y="2578100"/>
            <a:ext cx="1549400" cy="406400"/>
          </a:xfrm>
          <a:prstGeom prst="straightConnector1">
            <a:avLst/>
          </a:prstGeom>
          <a:ln w="19050" cap="rnd">
            <a:solidFill>
              <a:srgbClr val="64748B"/>
            </a:solidFill>
            <a:tailEnd type="triangle" w="med" len="med"/>
          </a:ln>
        </p:spPr>
        <p:style>
          <a:lnRef idx="1">
            <a:scrgbClr r="0" g="0" b="0"/>
          </a:lnRef>
          <a:fillRef idx="0">
            <a:scrgbClr r="0" g="0" b="0"/>
          </a:fillRef>
          <a:effectRef idx="0">
            <a:scrgbClr r="0" g="0" b="0"/>
          </a:effectRef>
          <a:fontRef idx="minor"/>
        </p:style>
      </p:cxnSp>
    </p:spTree>
    <p:extLst>
      <p:ext uri="{BB962C8B-B14F-4D97-AF65-F5344CB8AC3E}">
        <p14:creationId xmlns:p14="http://schemas.microsoft.com/office/powerpoint/2010/main" val="897003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AB90023-B41F-4D53-A0AC-0DF0707C2B75}"/>
              </a:ext>
            </a:extLst>
          </p:cNvPr>
          <p:cNvSpPr/>
          <p:nvPr/>
        </p:nvSpPr>
        <p:spPr>
          <a:xfrm>
            <a:off x="6603999" y="2133599"/>
            <a:ext cx="4900645" cy="4584441"/>
          </a:xfrm>
          <a:prstGeom prst="roundRect">
            <a:avLst/>
          </a:prstGeom>
          <a:solidFill>
            <a:srgbClr val="FCFBF4"/>
          </a:solidFill>
          <a:ln w="12700" cap="flat" cmpd="sng" algn="ctr">
            <a:solidFill>
              <a:srgbClr val="E6CF9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4" name="Rectangle: Rounded Corners 3">
            <a:extLst>
              <a:ext uri="{FF2B5EF4-FFF2-40B4-BE49-F238E27FC236}">
                <a16:creationId xmlns:a16="http://schemas.microsoft.com/office/drawing/2014/main" id="{99503CB7-6121-41C1-88F4-A85387DCDBDE}"/>
              </a:ext>
            </a:extLst>
          </p:cNvPr>
          <p:cNvSpPr/>
          <p:nvPr/>
        </p:nvSpPr>
        <p:spPr>
          <a:xfrm>
            <a:off x="762000" y="2133600"/>
            <a:ext cx="4826000" cy="4445000"/>
          </a:xfrm>
          <a:prstGeom prst="roundRect">
            <a:avLst/>
          </a:prstGeom>
          <a:solidFill>
            <a:srgbClr val="FCFBF4"/>
          </a:solidFill>
          <a:ln w="12700" cap="flat" cmpd="sng" algn="ctr">
            <a:solidFill>
              <a:srgbClr val="E6CF9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 name="TextBox 1">
            <a:extLst>
              <a:ext uri="{FF2B5EF4-FFF2-40B4-BE49-F238E27FC236}">
                <a16:creationId xmlns:a16="http://schemas.microsoft.com/office/drawing/2014/main" id="{FE9AEA4D-FDD1-498F-ADCB-6E3B8D1BC1A0}"/>
              </a:ext>
            </a:extLst>
          </p:cNvPr>
          <p:cNvSpPr txBox="1"/>
          <p:nvPr/>
        </p:nvSpPr>
        <p:spPr>
          <a:xfrm>
            <a:off x="508000" y="254000"/>
            <a:ext cx="11176000" cy="533400"/>
          </a:xfrm>
          <a:prstGeom prst="rect">
            <a:avLst/>
          </a:prstGeom>
          <a:noFill/>
        </p:spPr>
        <p:txBody>
          <a:bodyPr vertOverflow="overflow" vert="horz" wrap="square" rtlCol="0" anchor="t">
            <a:spAutoFit/>
          </a:bodyPr>
          <a:lstStyle/>
          <a:p>
            <a:pPr algn="l"/>
            <a:r>
              <a:rPr lang="en-US" sz="2800" b="1">
                <a:solidFill>
                  <a:srgbClr val="1E3A8A"/>
                </a:solidFill>
                <a:latin typeface="Cambria"/>
                <a:ea typeface="Cambria"/>
              </a:rPr>
              <a:t>How a request is authorized — session gate flow</a:t>
            </a:r>
            <a:endParaRPr lang="en-CA" sz="2800" b="1">
              <a:solidFill>
                <a:srgbClr val="1E3A8A"/>
              </a:solidFill>
              <a:latin typeface="Cambria"/>
              <a:ea typeface="Cambria"/>
            </a:endParaRPr>
          </a:p>
        </p:txBody>
      </p:sp>
      <p:sp>
        <p:nvSpPr>
          <p:cNvPr id="3" name="TextBox 2">
            <a:extLst>
              <a:ext uri="{FF2B5EF4-FFF2-40B4-BE49-F238E27FC236}">
                <a16:creationId xmlns:a16="http://schemas.microsoft.com/office/drawing/2014/main" id="{0A73DCC7-DBF8-4B2D-BB6F-BF24A3789409}"/>
              </a:ext>
            </a:extLst>
          </p:cNvPr>
          <p:cNvSpPr txBox="1"/>
          <p:nvPr/>
        </p:nvSpPr>
        <p:spPr>
          <a:xfrm>
            <a:off x="508000" y="787400"/>
            <a:ext cx="11176000" cy="304800"/>
          </a:xfrm>
          <a:prstGeom prst="rect">
            <a:avLst/>
          </a:prstGeom>
          <a:noFill/>
        </p:spPr>
        <p:txBody>
          <a:bodyPr vertOverflow="overflow" vert="horz" wrap="square" rtlCol="0" anchor="t">
            <a:spAutoFit/>
          </a:bodyPr>
          <a:lstStyle/>
          <a:p>
            <a:pPr algn="l"/>
            <a:r>
              <a:rPr lang="en-US" sz="1300">
                <a:solidFill>
                  <a:srgbClr val="475569"/>
                </a:solidFill>
                <a:latin typeface="Calibri"/>
                <a:ea typeface="Calibri"/>
                <a:cs typeface="Calibri"/>
              </a:rPr>
              <a:t>The httpOnly cookie is the only client-side credential — every role and session check happens server-side against Aurora.</a:t>
            </a:r>
            <a:endParaRPr lang="en-CA" sz="1300">
              <a:solidFill>
                <a:srgbClr val="475569"/>
              </a:solidFill>
              <a:latin typeface="Calibri"/>
              <a:ea typeface="Calibri"/>
              <a:cs typeface="Calibri"/>
            </a:endParaRPr>
          </a:p>
        </p:txBody>
      </p:sp>
      <p:sp>
        <p:nvSpPr>
          <p:cNvPr id="5" name="TextBox 4">
            <a:extLst>
              <a:ext uri="{FF2B5EF4-FFF2-40B4-BE49-F238E27FC236}">
                <a16:creationId xmlns:a16="http://schemas.microsoft.com/office/drawing/2014/main" id="{93BFBDAA-8F69-4A77-9CA0-86890A749AE3}"/>
              </a:ext>
            </a:extLst>
          </p:cNvPr>
          <p:cNvSpPr txBox="1"/>
          <p:nvPr/>
        </p:nvSpPr>
        <p:spPr>
          <a:xfrm>
            <a:off x="939800" y="2235200"/>
            <a:ext cx="4470400" cy="254000"/>
          </a:xfrm>
          <a:prstGeom prst="rect">
            <a:avLst/>
          </a:prstGeom>
          <a:noFill/>
        </p:spPr>
        <p:txBody>
          <a:bodyPr vertOverflow="overflow" vert="horz" wrap="square" rtlCol="0" anchor="t">
            <a:spAutoFit/>
          </a:bodyPr>
          <a:lstStyle/>
          <a:p>
            <a:pPr algn="l"/>
            <a:r>
              <a:rPr lang="en-US" sz="1100" b="1">
                <a:solidFill>
                  <a:srgbClr val="9A7A1F"/>
                </a:solidFill>
                <a:latin typeface="Calibri"/>
                <a:ea typeface="Calibri"/>
                <a:cs typeface="Calibri"/>
              </a:rPr>
              <a:t>Vercel Edge — middleware runs (no DB)</a:t>
            </a:r>
            <a:endParaRPr lang="en-CA" sz="1100" b="1">
              <a:solidFill>
                <a:srgbClr val="9A7A1F"/>
              </a:solidFill>
              <a:latin typeface="Calibri"/>
              <a:ea typeface="Calibri"/>
              <a:cs typeface="Calibri"/>
            </a:endParaRPr>
          </a:p>
        </p:txBody>
      </p:sp>
      <p:sp>
        <p:nvSpPr>
          <p:cNvPr id="7" name="TextBox 6">
            <a:extLst>
              <a:ext uri="{FF2B5EF4-FFF2-40B4-BE49-F238E27FC236}">
                <a16:creationId xmlns:a16="http://schemas.microsoft.com/office/drawing/2014/main" id="{5BA170DC-10F8-406A-B647-0D9AB9428651}"/>
              </a:ext>
            </a:extLst>
          </p:cNvPr>
          <p:cNvSpPr txBox="1"/>
          <p:nvPr/>
        </p:nvSpPr>
        <p:spPr>
          <a:xfrm>
            <a:off x="6781800" y="2235200"/>
            <a:ext cx="4470400" cy="254000"/>
          </a:xfrm>
          <a:prstGeom prst="rect">
            <a:avLst/>
          </a:prstGeom>
          <a:noFill/>
        </p:spPr>
        <p:txBody>
          <a:bodyPr vertOverflow="overflow" vert="horz" wrap="square" rtlCol="0" anchor="t">
            <a:spAutoFit/>
          </a:bodyPr>
          <a:lstStyle/>
          <a:p>
            <a:pPr algn="l"/>
            <a:r>
              <a:rPr lang="en-CA" sz="1100" b="1">
                <a:solidFill>
                  <a:srgbClr val="9A7A1F"/>
                </a:solidFill>
                <a:latin typeface="Calibri"/>
                <a:ea typeface="Calibri"/>
                <a:cs typeface="Calibri"/>
              </a:rPr>
              <a:t>Vercel Serverless — route handler</a:t>
            </a:r>
          </a:p>
        </p:txBody>
      </p:sp>
      <p:sp>
        <p:nvSpPr>
          <p:cNvPr id="8" name="Rectangle: Rounded Corners 7">
            <a:extLst>
              <a:ext uri="{FF2B5EF4-FFF2-40B4-BE49-F238E27FC236}">
                <a16:creationId xmlns:a16="http://schemas.microsoft.com/office/drawing/2014/main" id="{847ACA0A-EFAA-44AF-91F4-C709929E8F79}"/>
              </a:ext>
            </a:extLst>
          </p:cNvPr>
          <p:cNvSpPr/>
          <p:nvPr/>
        </p:nvSpPr>
        <p:spPr>
          <a:xfrm>
            <a:off x="3937000" y="1168400"/>
            <a:ext cx="4318000" cy="711200"/>
          </a:xfrm>
          <a:prstGeom prst="roundRect">
            <a:avLst/>
          </a:prstGeom>
          <a:solidFill>
            <a:srgbClr val="F0F6FF"/>
          </a:solidFill>
          <a:ln w="12700" cap="flat" cmpd="sng" algn="ctr">
            <a:solidFill>
              <a:srgbClr val="D5DE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CA" sz="1200">
                <a:solidFill>
                  <a:srgbClr val="1E293B"/>
                </a:solidFill>
                <a:latin typeface="Calibri"/>
                <a:ea typeface="Calibri"/>
                <a:cs typeface="Calibri"/>
              </a:rPr>
              <a:t>Browser — sends httpOnly cookie edsynapse_session
(no role / token in JS storage)</a:t>
            </a:r>
          </a:p>
        </p:txBody>
      </p:sp>
      <p:sp>
        <p:nvSpPr>
          <p:cNvPr id="9" name="Diamond 8">
            <a:extLst>
              <a:ext uri="{FF2B5EF4-FFF2-40B4-BE49-F238E27FC236}">
                <a16:creationId xmlns:a16="http://schemas.microsoft.com/office/drawing/2014/main" id="{8AE1BFE5-E3B7-4304-BD6F-EF0416F3764E}"/>
              </a:ext>
            </a:extLst>
          </p:cNvPr>
          <p:cNvSpPr/>
          <p:nvPr/>
        </p:nvSpPr>
        <p:spPr>
          <a:xfrm>
            <a:off x="1524000" y="2819400"/>
            <a:ext cx="3302000" cy="1320800"/>
          </a:xfrm>
          <a:prstGeom prst="diamond">
            <a:avLst/>
          </a:prstGeom>
          <a:solidFill>
            <a:srgbClr val="EDE9FE"/>
          </a:solidFill>
          <a:ln w="12700" cap="flat" cmpd="sng" algn="ctr">
            <a:solidFill>
              <a:srgbClr val="C4B5F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CA" sz="1200" b="1">
                <a:solidFill>
                  <a:srgbClr val="4C1D95"/>
                </a:solidFill>
                <a:latin typeface="Calibri"/>
                <a:ea typeface="Calibri"/>
                <a:cs typeface="Calibri"/>
              </a:rPr>
              <a:t>edsynapse_session
cookie present?</a:t>
            </a:r>
          </a:p>
        </p:txBody>
      </p:sp>
      <p:sp>
        <p:nvSpPr>
          <p:cNvPr id="10" name="Rectangle: Rounded Corners 9">
            <a:extLst>
              <a:ext uri="{FF2B5EF4-FFF2-40B4-BE49-F238E27FC236}">
                <a16:creationId xmlns:a16="http://schemas.microsoft.com/office/drawing/2014/main" id="{F04E96A3-2B85-4965-A68A-0A5CFF40639E}"/>
              </a:ext>
            </a:extLst>
          </p:cNvPr>
          <p:cNvSpPr/>
          <p:nvPr/>
        </p:nvSpPr>
        <p:spPr>
          <a:xfrm>
            <a:off x="1651000" y="5130800"/>
            <a:ext cx="3048000" cy="635000"/>
          </a:xfrm>
          <a:prstGeom prst="roundRect">
            <a:avLst/>
          </a:prstGeom>
          <a:solidFill>
            <a:srgbClr val="F0F6FF"/>
          </a:solidFill>
          <a:ln w="12700" cap="flat" cmpd="sng" algn="ctr">
            <a:solidFill>
              <a:srgbClr val="D5DE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CA" sz="1300">
                <a:solidFill>
                  <a:srgbClr val="1E293B"/>
                </a:solidFill>
                <a:latin typeface="Calibri"/>
                <a:ea typeface="Calibri"/>
                <a:cs typeface="Calibri"/>
              </a:rPr>
              <a:t>302 → /sign-in</a:t>
            </a:r>
          </a:p>
        </p:txBody>
      </p:sp>
      <p:sp>
        <p:nvSpPr>
          <p:cNvPr id="11" name="Rectangle: Rounded Corners 10">
            <a:extLst>
              <a:ext uri="{FF2B5EF4-FFF2-40B4-BE49-F238E27FC236}">
                <a16:creationId xmlns:a16="http://schemas.microsoft.com/office/drawing/2014/main" id="{BF24CF99-8733-4CB6-9C1E-33AF556E5105}"/>
              </a:ext>
            </a:extLst>
          </p:cNvPr>
          <p:cNvSpPr/>
          <p:nvPr/>
        </p:nvSpPr>
        <p:spPr>
          <a:xfrm>
            <a:off x="7112000" y="2667000"/>
            <a:ext cx="3810000" cy="533400"/>
          </a:xfrm>
          <a:prstGeom prst="roundRect">
            <a:avLst/>
          </a:prstGeom>
          <a:solidFill>
            <a:srgbClr val="EDE9FE"/>
          </a:solidFill>
          <a:ln w="12700" cap="flat" cmpd="sng" algn="ctr">
            <a:solidFill>
              <a:srgbClr val="C4B5F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CA" sz="1300" b="1">
                <a:solidFill>
                  <a:srgbClr val="4C1D95"/>
                </a:solidFill>
                <a:latin typeface="Calibri"/>
                <a:ea typeface="Calibri"/>
                <a:cs typeface="Calibri"/>
              </a:rPr>
              <a:t>requireUser(role?)</a:t>
            </a:r>
          </a:p>
        </p:txBody>
      </p:sp>
      <p:sp>
        <p:nvSpPr>
          <p:cNvPr id="12" name="Cylinder 11">
            <a:extLst>
              <a:ext uri="{FF2B5EF4-FFF2-40B4-BE49-F238E27FC236}">
                <a16:creationId xmlns:a16="http://schemas.microsoft.com/office/drawing/2014/main" id="{3B3AE9AF-BA25-4EF8-B082-601D24FE2C5F}"/>
              </a:ext>
            </a:extLst>
          </p:cNvPr>
          <p:cNvSpPr/>
          <p:nvPr/>
        </p:nvSpPr>
        <p:spPr>
          <a:xfrm>
            <a:off x="7810500" y="3429000"/>
            <a:ext cx="2413000" cy="863600"/>
          </a:xfrm>
          <a:prstGeom prst="can">
            <a:avLst/>
          </a:prstGeom>
          <a:solidFill>
            <a:srgbClr val="4F46E5"/>
          </a:solidFill>
          <a:ln w="12700" cap="flat" cmpd="sng" algn="ctr">
            <a:solidFill>
              <a:srgbClr val="3730A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100">
                <a:solidFill>
                  <a:srgbClr val="FFFFFF"/>
                </a:solidFill>
                <a:latin typeface="Calibri"/>
                <a:ea typeface="Calibri"/>
                <a:cs typeface="Calibri"/>
              </a:rPr>
              <a:t>Aurora — sessions ⋈ users
token lookup · expiry · status</a:t>
            </a:r>
            <a:endParaRPr lang="en-CA" sz="1100">
              <a:solidFill>
                <a:srgbClr val="FFFFFF"/>
              </a:solidFill>
              <a:latin typeface="Calibri"/>
              <a:ea typeface="Calibri"/>
              <a:cs typeface="Calibri"/>
            </a:endParaRPr>
          </a:p>
        </p:txBody>
      </p:sp>
      <p:sp>
        <p:nvSpPr>
          <p:cNvPr id="13" name="Diamond 12">
            <a:extLst>
              <a:ext uri="{FF2B5EF4-FFF2-40B4-BE49-F238E27FC236}">
                <a16:creationId xmlns:a16="http://schemas.microsoft.com/office/drawing/2014/main" id="{445B3E80-B65E-43CF-9A23-D72459EB37C5}"/>
              </a:ext>
            </a:extLst>
          </p:cNvPr>
          <p:cNvSpPr/>
          <p:nvPr/>
        </p:nvSpPr>
        <p:spPr>
          <a:xfrm>
            <a:off x="7556500" y="4445000"/>
            <a:ext cx="2921000" cy="1219200"/>
          </a:xfrm>
          <a:prstGeom prst="diamond">
            <a:avLst/>
          </a:prstGeom>
          <a:solidFill>
            <a:srgbClr val="EDE9FE"/>
          </a:solidFill>
          <a:ln w="12700" cap="flat" cmpd="sng" algn="ctr">
            <a:solidFill>
              <a:srgbClr val="C4B5F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CA" sz="1200" b="1">
                <a:solidFill>
                  <a:srgbClr val="4C1D95"/>
                </a:solidFill>
                <a:latin typeface="Calibri"/>
                <a:ea typeface="Calibri"/>
                <a:cs typeface="Calibri"/>
              </a:rPr>
              <a:t>session valid
&amp; role allowed?</a:t>
            </a:r>
          </a:p>
        </p:txBody>
      </p:sp>
      <p:sp>
        <p:nvSpPr>
          <p:cNvPr id="14" name="Rectangle: Rounded Corners 13">
            <a:extLst>
              <a:ext uri="{FF2B5EF4-FFF2-40B4-BE49-F238E27FC236}">
                <a16:creationId xmlns:a16="http://schemas.microsoft.com/office/drawing/2014/main" id="{CA586003-3142-4040-A417-ED6AB9CA9FF0}"/>
              </a:ext>
            </a:extLst>
          </p:cNvPr>
          <p:cNvSpPr/>
          <p:nvPr/>
        </p:nvSpPr>
        <p:spPr>
          <a:xfrm>
            <a:off x="6858000" y="5816600"/>
            <a:ext cx="2095500" cy="711200"/>
          </a:xfrm>
          <a:prstGeom prst="roundRect">
            <a:avLst/>
          </a:prstGeom>
          <a:solidFill>
            <a:srgbClr val="ECFDF5"/>
          </a:solidFill>
          <a:ln w="12700" cap="flat" cmpd="sng" algn="ctr">
            <a:solidFill>
              <a:srgbClr val="6EE7B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100">
                <a:solidFill>
                  <a:srgbClr val="065F46"/>
                </a:solidFill>
                <a:latin typeface="Calibri"/>
                <a:ea typeface="Calibri"/>
                <a:cs typeface="Calibri"/>
              </a:rPr>
              <a:t>Handler runs
scoped to this user_id</a:t>
            </a:r>
            <a:endParaRPr lang="en-CA" sz="1100">
              <a:solidFill>
                <a:srgbClr val="065F46"/>
              </a:solidFill>
              <a:latin typeface="Calibri"/>
              <a:ea typeface="Calibri"/>
              <a:cs typeface="Calibri"/>
            </a:endParaRPr>
          </a:p>
        </p:txBody>
      </p:sp>
      <p:sp>
        <p:nvSpPr>
          <p:cNvPr id="15" name="Rectangle: Rounded Corners 14">
            <a:extLst>
              <a:ext uri="{FF2B5EF4-FFF2-40B4-BE49-F238E27FC236}">
                <a16:creationId xmlns:a16="http://schemas.microsoft.com/office/drawing/2014/main" id="{D3DE119C-3385-4D1B-9EF7-DF7E3153DE63}"/>
              </a:ext>
            </a:extLst>
          </p:cNvPr>
          <p:cNvSpPr/>
          <p:nvPr/>
        </p:nvSpPr>
        <p:spPr>
          <a:xfrm>
            <a:off x="9144000" y="5816600"/>
            <a:ext cx="2095500" cy="711200"/>
          </a:xfrm>
          <a:prstGeom prst="roundRect">
            <a:avLst/>
          </a:prstGeom>
          <a:solidFill>
            <a:srgbClr val="FEF2F2"/>
          </a:solidFill>
          <a:ln w="12700" cap="flat" cmpd="sng" algn="ctr">
            <a:solidFill>
              <a:srgbClr val="FCA5A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CA" sz="1200">
                <a:solidFill>
                  <a:srgbClr val="991B1B"/>
                </a:solidFill>
                <a:latin typeface="Calibri"/>
                <a:ea typeface="Calibri"/>
                <a:cs typeface="Calibri"/>
              </a:rPr>
              <a:t>AuthError → 401 / 403</a:t>
            </a:r>
          </a:p>
        </p:txBody>
      </p:sp>
      <p:cxnSp>
        <p:nvCxnSpPr>
          <p:cNvPr id="600" name="conn600"/>
          <p:cNvCxnSpPr/>
          <p:nvPr/>
        </p:nvCxnSpPr>
        <p:spPr>
          <a:xfrm flipH="1">
            <a:off x="3175000" y="1879600"/>
            <a:ext cx="2921000" cy="939800"/>
          </a:xfrm>
          <a:prstGeom prst="line">
            <a:avLst/>
          </a:prstGeom>
          <a:ln w="19050" cap="rnd">
            <a:solidFill>
              <a:srgbClr val="94A3B8"/>
            </a:solidFill>
            <a:tailEnd type="triangle"/>
          </a:ln>
        </p:spPr>
      </p:cxnSp>
      <p:cxnSp>
        <p:nvCxnSpPr>
          <p:cNvPr id="601" name="conn601"/>
          <p:cNvCxnSpPr/>
          <p:nvPr/>
        </p:nvCxnSpPr>
        <p:spPr>
          <a:xfrm>
            <a:off x="3175000" y="4140200"/>
            <a:ext cx="0" cy="990600"/>
          </a:xfrm>
          <a:prstGeom prst="line">
            <a:avLst/>
          </a:prstGeom>
          <a:ln w="19050" cap="rnd">
            <a:solidFill>
              <a:srgbClr val="94A3B8"/>
            </a:solidFill>
            <a:tailEnd type="triangle"/>
          </a:ln>
        </p:spPr>
      </p:cxnSp>
      <p:cxnSp>
        <p:nvCxnSpPr>
          <p:cNvPr id="602" name="conn602"/>
          <p:cNvCxnSpPr/>
          <p:nvPr/>
        </p:nvCxnSpPr>
        <p:spPr>
          <a:xfrm flipV="1">
            <a:off x="4445000" y="2933700"/>
            <a:ext cx="2667000" cy="546100"/>
          </a:xfrm>
          <a:prstGeom prst="line">
            <a:avLst/>
          </a:prstGeom>
          <a:ln w="19050" cap="rnd">
            <a:solidFill>
              <a:srgbClr val="94A3B8"/>
            </a:solidFill>
            <a:tailEnd type="triangle"/>
          </a:ln>
        </p:spPr>
      </p:cxnSp>
      <p:cxnSp>
        <p:nvCxnSpPr>
          <p:cNvPr id="603" name="conn603"/>
          <p:cNvCxnSpPr/>
          <p:nvPr/>
        </p:nvCxnSpPr>
        <p:spPr>
          <a:xfrm>
            <a:off x="9017000" y="3200400"/>
            <a:ext cx="0" cy="228600"/>
          </a:xfrm>
          <a:prstGeom prst="line">
            <a:avLst/>
          </a:prstGeom>
          <a:ln w="19050" cap="rnd">
            <a:solidFill>
              <a:srgbClr val="94A3B8"/>
            </a:solidFill>
            <a:tailEnd type="triangle"/>
          </a:ln>
        </p:spPr>
      </p:cxnSp>
      <p:cxnSp>
        <p:nvCxnSpPr>
          <p:cNvPr id="604" name="conn604"/>
          <p:cNvCxnSpPr/>
          <p:nvPr/>
        </p:nvCxnSpPr>
        <p:spPr>
          <a:xfrm>
            <a:off x="9017000" y="4292600"/>
            <a:ext cx="0" cy="152400"/>
          </a:xfrm>
          <a:prstGeom prst="line">
            <a:avLst/>
          </a:prstGeom>
          <a:ln w="19050" cap="rnd">
            <a:solidFill>
              <a:srgbClr val="94A3B8"/>
            </a:solidFill>
            <a:tailEnd type="triangle"/>
          </a:ln>
        </p:spPr>
      </p:cxnSp>
      <p:cxnSp>
        <p:nvCxnSpPr>
          <p:cNvPr id="605" name="conn605"/>
          <p:cNvCxnSpPr/>
          <p:nvPr/>
        </p:nvCxnSpPr>
        <p:spPr>
          <a:xfrm flipH="1">
            <a:off x="7899400" y="5461000"/>
            <a:ext cx="736600" cy="355600"/>
          </a:xfrm>
          <a:prstGeom prst="line">
            <a:avLst/>
          </a:prstGeom>
          <a:ln w="19050" cap="rnd">
            <a:solidFill>
              <a:srgbClr val="94A3B8"/>
            </a:solidFill>
            <a:tailEnd type="triangle"/>
          </a:ln>
        </p:spPr>
      </p:cxnSp>
      <p:cxnSp>
        <p:nvCxnSpPr>
          <p:cNvPr id="606" name="conn606"/>
          <p:cNvCxnSpPr/>
          <p:nvPr/>
        </p:nvCxnSpPr>
        <p:spPr>
          <a:xfrm>
            <a:off x="9398000" y="5461000"/>
            <a:ext cx="787400" cy="355600"/>
          </a:xfrm>
          <a:prstGeom prst="line">
            <a:avLst/>
          </a:prstGeom>
          <a:ln w="19050" cap="rnd">
            <a:solidFill>
              <a:srgbClr val="94A3B8"/>
            </a:solidFill>
            <a:tailEnd type="triangle"/>
          </a:ln>
        </p:spPr>
      </p:cxnSp>
      <p:sp>
        <p:nvSpPr>
          <p:cNvPr id="16" name="TextBox 15">
            <a:extLst>
              <a:ext uri="{FF2B5EF4-FFF2-40B4-BE49-F238E27FC236}">
                <a16:creationId xmlns:a16="http://schemas.microsoft.com/office/drawing/2014/main" id="{DCBD4CAD-AB06-4176-915F-511361003E89}"/>
              </a:ext>
            </a:extLst>
          </p:cNvPr>
          <p:cNvSpPr txBox="1"/>
          <p:nvPr/>
        </p:nvSpPr>
        <p:spPr>
          <a:xfrm>
            <a:off x="3746500" y="2133600"/>
            <a:ext cx="2667000" cy="228600"/>
          </a:xfrm>
          <a:prstGeom prst="rect">
            <a:avLst/>
          </a:prstGeom>
          <a:solidFill>
            <a:srgbClr val="FCFBF4"/>
          </a:solidFill>
          <a:ln>
            <a:noFill/>
          </a:ln>
        </p:spPr>
        <p:txBody>
          <a:bodyPr vertOverflow="overflow" vert="horz" wrap="none" rtlCol="0" anchor="ctr" anchorCtr="0">
            <a:noAutofit/>
          </a:bodyPr>
          <a:lstStyle/>
          <a:p>
            <a:pPr algn="l"/>
            <a:r>
              <a:rPr lang="en-US" sz="1000">
                <a:solidFill>
                  <a:srgbClr val="475569"/>
                </a:solidFill>
                <a:latin typeface="Calibri"/>
                <a:ea typeface="Calibri"/>
                <a:cs typeface="Calibri"/>
              </a:rPr>
              <a:t>request to /student · /teacher · /admin</a:t>
            </a:r>
            <a:endParaRPr lang="en-CA" sz="1000">
              <a:solidFill>
                <a:srgbClr val="475569"/>
              </a:solidFill>
              <a:latin typeface="Calibri"/>
              <a:ea typeface="Calibri"/>
              <a:cs typeface="Calibri"/>
            </a:endParaRPr>
          </a:p>
        </p:txBody>
      </p:sp>
      <p:sp>
        <p:nvSpPr>
          <p:cNvPr id="17" name="TextBox 16">
            <a:extLst>
              <a:ext uri="{FF2B5EF4-FFF2-40B4-BE49-F238E27FC236}">
                <a16:creationId xmlns:a16="http://schemas.microsoft.com/office/drawing/2014/main" id="{8A33DD21-F62E-4FB8-A856-8E906296C20D}"/>
              </a:ext>
            </a:extLst>
          </p:cNvPr>
          <p:cNvSpPr txBox="1"/>
          <p:nvPr/>
        </p:nvSpPr>
        <p:spPr>
          <a:xfrm>
            <a:off x="2514600" y="4597400"/>
            <a:ext cx="1320800" cy="228600"/>
          </a:xfrm>
          <a:prstGeom prst="rect">
            <a:avLst/>
          </a:prstGeom>
          <a:solidFill>
            <a:srgbClr val="FCFBF4"/>
          </a:solidFill>
          <a:ln>
            <a:noFill/>
          </a:ln>
        </p:spPr>
        <p:txBody>
          <a:bodyPr vertOverflow="overflow" vert="horz" wrap="none" rtlCol="0" anchor="ctr" anchorCtr="0">
            <a:noAutofit/>
          </a:bodyPr>
          <a:lstStyle/>
          <a:p>
            <a:pPr algn="l"/>
            <a:r>
              <a:rPr lang="en-CA" sz="1000">
                <a:solidFill>
                  <a:srgbClr val="475569"/>
                </a:solidFill>
                <a:latin typeface="Calibri"/>
                <a:ea typeface="Calibri"/>
                <a:cs typeface="Calibri"/>
              </a:rPr>
              <a:t>no cookie</a:t>
            </a:r>
          </a:p>
        </p:txBody>
      </p:sp>
      <p:sp>
        <p:nvSpPr>
          <p:cNvPr id="18" name="TextBox 17">
            <a:extLst>
              <a:ext uri="{FF2B5EF4-FFF2-40B4-BE49-F238E27FC236}">
                <a16:creationId xmlns:a16="http://schemas.microsoft.com/office/drawing/2014/main" id="{18BC6EFE-C4A3-48F7-8F36-193C3DA60A4D}"/>
              </a:ext>
            </a:extLst>
          </p:cNvPr>
          <p:cNvSpPr txBox="1"/>
          <p:nvPr/>
        </p:nvSpPr>
        <p:spPr>
          <a:xfrm>
            <a:off x="5054600" y="2946400"/>
            <a:ext cx="1447800" cy="228600"/>
          </a:xfrm>
          <a:prstGeom prst="rect">
            <a:avLst/>
          </a:prstGeom>
          <a:solidFill>
            <a:srgbClr val="FCFBF4"/>
          </a:solidFill>
          <a:ln>
            <a:noFill/>
          </a:ln>
        </p:spPr>
        <p:txBody>
          <a:bodyPr vertOverflow="overflow" vert="horz" wrap="none" rtlCol="0" anchor="ctr" anchorCtr="0">
            <a:noAutofit/>
          </a:bodyPr>
          <a:lstStyle/>
          <a:p>
            <a:pPr algn="l"/>
            <a:r>
              <a:rPr lang="en-CA" sz="1000">
                <a:solidFill>
                  <a:srgbClr val="475569"/>
                </a:solidFill>
                <a:latin typeface="Calibri"/>
                <a:ea typeface="Calibri"/>
                <a:cs typeface="Calibri"/>
              </a:rPr>
              <a:t>cookie present</a:t>
            </a:r>
          </a:p>
        </p:txBody>
      </p:sp>
      <p:sp>
        <p:nvSpPr>
          <p:cNvPr id="19" name="TextBox 18">
            <a:extLst>
              <a:ext uri="{FF2B5EF4-FFF2-40B4-BE49-F238E27FC236}">
                <a16:creationId xmlns:a16="http://schemas.microsoft.com/office/drawing/2014/main" id="{C612D4E9-6E4F-4DCE-B134-A25C30ADDC12}"/>
              </a:ext>
            </a:extLst>
          </p:cNvPr>
          <p:cNvSpPr txBox="1"/>
          <p:nvPr/>
        </p:nvSpPr>
        <p:spPr>
          <a:xfrm>
            <a:off x="7493000" y="5486400"/>
            <a:ext cx="558800" cy="228600"/>
          </a:xfrm>
          <a:prstGeom prst="rect">
            <a:avLst/>
          </a:prstGeom>
          <a:solidFill>
            <a:srgbClr val="FCFBF4"/>
          </a:solidFill>
          <a:ln>
            <a:noFill/>
          </a:ln>
        </p:spPr>
        <p:txBody>
          <a:bodyPr vertOverflow="overflow" vert="horz" wrap="none" rtlCol="0" anchor="ctr" anchorCtr="0">
            <a:noAutofit/>
          </a:bodyPr>
          <a:lstStyle/>
          <a:p>
            <a:pPr algn="l"/>
            <a:r>
              <a:rPr lang="en-CA" sz="1000">
                <a:solidFill>
                  <a:srgbClr val="475569"/>
                </a:solidFill>
                <a:latin typeface="Calibri"/>
                <a:ea typeface="Calibri"/>
                <a:cs typeface="Calibri"/>
              </a:rPr>
              <a:t>yes</a:t>
            </a:r>
          </a:p>
        </p:txBody>
      </p:sp>
      <p:sp>
        <p:nvSpPr>
          <p:cNvPr id="20" name="TextBox 19">
            <a:extLst>
              <a:ext uri="{FF2B5EF4-FFF2-40B4-BE49-F238E27FC236}">
                <a16:creationId xmlns:a16="http://schemas.microsoft.com/office/drawing/2014/main" id="{11DD9CE2-11B6-40BE-8B1B-05C497C2D2C7}"/>
              </a:ext>
            </a:extLst>
          </p:cNvPr>
          <p:cNvSpPr txBox="1"/>
          <p:nvPr/>
        </p:nvSpPr>
        <p:spPr>
          <a:xfrm>
            <a:off x="9677400" y="5461000"/>
            <a:ext cx="1397000" cy="228600"/>
          </a:xfrm>
          <a:prstGeom prst="rect">
            <a:avLst/>
          </a:prstGeom>
          <a:solidFill>
            <a:srgbClr val="FCFBF4"/>
          </a:solidFill>
          <a:ln>
            <a:noFill/>
          </a:ln>
        </p:spPr>
        <p:txBody>
          <a:bodyPr vertOverflow="overflow" vert="horz" wrap="none" rtlCol="0" anchor="ctr" anchorCtr="0">
            <a:noAutofit/>
          </a:bodyPr>
          <a:lstStyle/>
          <a:p>
            <a:pPr algn="l"/>
            <a:r>
              <a:rPr lang="en-CA" sz="1000">
                <a:solidFill>
                  <a:srgbClr val="475569"/>
                </a:solidFill>
                <a:latin typeface="Calibri"/>
                <a:ea typeface="Calibri"/>
                <a:cs typeface="Calibri"/>
              </a:rPr>
              <a:t>no / wrong role</a:t>
            </a:r>
          </a:p>
        </p:txBody>
      </p:sp>
    </p:spTree>
    <p:extLst>
      <p:ext uri="{BB962C8B-B14F-4D97-AF65-F5344CB8AC3E}">
        <p14:creationId xmlns:p14="http://schemas.microsoft.com/office/powerpoint/2010/main" val="181524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640080"/>
          </a:xfrm>
          <a:prstGeom prst="rect">
            <a:avLst/>
          </a:prstGeom>
          <a:noFill/>
          <a:ln/>
        </p:spPr>
        <p:txBody>
          <a:bodyPr wrap="square" lIns="0" tIns="0" rIns="0" bIns="0" rtlCol="0" anchor="ctr"/>
          <a:lstStyle/>
          <a:p>
            <a:pPr marL="0" indent="0">
              <a:buNone/>
            </a:pPr>
            <a:r>
              <a:rPr lang="en-US" sz="3400" b="1" dirty="0">
                <a:solidFill>
                  <a:srgbClr val="1E3A8A"/>
                </a:solidFill>
                <a:latin typeface="Cambria" pitchFamily="34" charset="0"/>
                <a:ea typeface="Cambria" pitchFamily="34" charset="-122"/>
                <a:cs typeface="Cambria" pitchFamily="34" charset="-120"/>
              </a:rPr>
              <a:t>We're in free beta — tell us what to build</a:t>
            </a:r>
            <a:endParaRPr lang="en-US" sz="3400" dirty="0"/>
          </a:p>
        </p:txBody>
      </p:sp>
      <p:sp>
        <p:nvSpPr>
          <p:cNvPr id="3" name="Shape 1"/>
          <p:cNvSpPr/>
          <p:nvPr/>
        </p:nvSpPr>
        <p:spPr>
          <a:xfrm>
            <a:off x="548640" y="1554480"/>
            <a:ext cx="6766560" cy="4389120"/>
          </a:xfrm>
          <a:prstGeom prst="roundRect">
            <a:avLst>
              <a:gd name="adj" fmla="val 2500"/>
            </a:avLst>
          </a:prstGeom>
          <a:solidFill>
            <a:srgbClr val="F0F6FF"/>
          </a:solidFill>
          <a:ln/>
          <a:effectLst>
            <a:outerShdw blurRad="88900" dist="25400" dir="5400000" algn="bl" rotWithShape="0">
              <a:srgbClr val="1E293B">
                <a:alpha val="12000"/>
              </a:srgbClr>
            </a:outerShdw>
          </a:effectLst>
        </p:spPr>
        <p:txBody>
          <a:bodyPr/>
          <a:lstStyle/>
          <a:p>
            <a:endParaRPr lang="en-CA"/>
          </a:p>
        </p:txBody>
      </p:sp>
      <p:sp>
        <p:nvSpPr>
          <p:cNvPr id="4" name="Text 2"/>
          <p:cNvSpPr/>
          <p:nvPr/>
        </p:nvSpPr>
        <p:spPr>
          <a:xfrm>
            <a:off x="914400" y="1874520"/>
            <a:ext cx="6035040" cy="457200"/>
          </a:xfrm>
          <a:prstGeom prst="rect">
            <a:avLst/>
          </a:prstGeom>
          <a:noFill/>
          <a:ln/>
        </p:spPr>
        <p:txBody>
          <a:bodyPr wrap="square" lIns="0" tIns="0" rIns="0" bIns="0" rtlCol="0" anchor="ctr"/>
          <a:lstStyle/>
          <a:p>
            <a:pPr marL="0" indent="0">
              <a:buNone/>
            </a:pPr>
            <a:r>
              <a:rPr lang="en-US" sz="2400" b="1" dirty="0">
                <a:solidFill>
                  <a:srgbClr val="0F172A"/>
                </a:solidFill>
                <a:latin typeface="Cambria" pitchFamily="34" charset="0"/>
                <a:ea typeface="Cambria" pitchFamily="34" charset="-122"/>
                <a:cs typeface="Cambria" pitchFamily="34" charset="-120"/>
              </a:rPr>
              <a:t>Share Feedback</a:t>
            </a:r>
            <a:endParaRPr lang="en-US" sz="2400" dirty="0"/>
          </a:p>
        </p:txBody>
      </p:sp>
      <p:sp>
        <p:nvSpPr>
          <p:cNvPr id="5" name="Text 3"/>
          <p:cNvSpPr/>
          <p:nvPr/>
        </p:nvSpPr>
        <p:spPr>
          <a:xfrm>
            <a:off x="914400" y="2514600"/>
            <a:ext cx="612648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9405E"/>
                </a:solidFill>
                <a:latin typeface="Calibri" pitchFamily="34" charset="0"/>
                <a:ea typeface="Calibri" pitchFamily="34" charset="-122"/>
                <a:cs typeface="Calibri" pitchFamily="34" charset="-120"/>
              </a:rPr>
              <a:t>Built into the app — “Share Feedback” in the sidebar &amp; landing nav</a:t>
            </a:r>
            <a:endParaRPr lang="en-US" sz="1600" dirty="0"/>
          </a:p>
          <a:p>
            <a:pPr marL="342900" indent="-342900">
              <a:spcAft>
                <a:spcPts val="1000"/>
              </a:spcAft>
              <a:buSzPct val="100000"/>
              <a:buChar char="•"/>
            </a:pPr>
            <a:r>
              <a:rPr lang="en-US" sz="1600" dirty="0">
                <a:solidFill>
                  <a:srgbClr val="29405E"/>
                </a:solidFill>
                <a:latin typeface="Calibri" pitchFamily="34" charset="0"/>
                <a:ea typeface="Calibri" pitchFamily="34" charset="-122"/>
                <a:cs typeface="Calibri" pitchFamily="34" charset="-120"/>
              </a:rPr>
              <a:t>Role-aware: students and teachers each get their own questions</a:t>
            </a:r>
            <a:endParaRPr lang="en-US" sz="1600" dirty="0"/>
          </a:p>
          <a:p>
            <a:pPr marL="342900" indent="-342900">
              <a:spcAft>
                <a:spcPts val="1000"/>
              </a:spcAft>
              <a:buSzPct val="100000"/>
              <a:buChar char="•"/>
            </a:pPr>
            <a:r>
              <a:rPr lang="en-US" sz="1600" dirty="0">
                <a:solidFill>
                  <a:srgbClr val="29405E"/>
                </a:solidFill>
                <a:latin typeface="Calibri" pitchFamily="34" charset="0"/>
                <a:ea typeface="Calibri" pitchFamily="34" charset="-122"/>
                <a:cs typeface="Calibri" pitchFamily="34" charset="-120"/>
              </a:rPr>
              <a:t>Anonymous by design — email is optional</a:t>
            </a:r>
            <a:endParaRPr lang="en-US" sz="1600" dirty="0"/>
          </a:p>
          <a:p>
            <a:pPr marL="342900" indent="-342900">
              <a:spcAft>
                <a:spcPts val="1000"/>
              </a:spcAft>
              <a:buSzPct val="100000"/>
              <a:buChar char="•"/>
            </a:pPr>
            <a:r>
              <a:rPr lang="en-US" sz="1600" dirty="0">
                <a:solidFill>
                  <a:srgbClr val="29405E"/>
                </a:solidFill>
                <a:latin typeface="Calibri" pitchFamily="34" charset="0"/>
                <a:ea typeface="Calibri" pitchFamily="34" charset="-122"/>
                <a:cs typeface="Calibri" pitchFamily="34" charset="-120"/>
              </a:rPr>
              <a:t>Captures what worked, what broke, and what to build next</a:t>
            </a:r>
            <a:endParaRPr lang="en-US" sz="1600" dirty="0"/>
          </a:p>
        </p:txBody>
      </p:sp>
      <p:sp>
        <p:nvSpPr>
          <p:cNvPr id="6" name="Shape 4"/>
          <p:cNvSpPr/>
          <p:nvPr/>
        </p:nvSpPr>
        <p:spPr>
          <a:xfrm>
            <a:off x="7543800" y="1554480"/>
            <a:ext cx="4114800" cy="4389120"/>
          </a:xfrm>
          <a:prstGeom prst="roundRect">
            <a:avLst>
              <a:gd name="adj" fmla="val 2667"/>
            </a:avLst>
          </a:prstGeom>
          <a:solidFill>
            <a:srgbClr val="1E3A8A"/>
          </a:solidFill>
          <a:ln/>
          <a:effectLst>
            <a:outerShdw blurRad="114300" dist="38100" dir="5400000" algn="bl" rotWithShape="0">
              <a:srgbClr val="1E293B">
                <a:alpha val="16000"/>
              </a:srgbClr>
            </a:outerShdw>
          </a:effectLst>
        </p:spPr>
        <p:txBody>
          <a:bodyPr/>
          <a:lstStyle/>
          <a:p>
            <a:endParaRPr lang="en-CA"/>
          </a:p>
        </p:txBody>
      </p:sp>
      <p:sp>
        <p:nvSpPr>
          <p:cNvPr id="7" name="Text 5"/>
          <p:cNvSpPr/>
          <p:nvPr/>
        </p:nvSpPr>
        <p:spPr>
          <a:xfrm>
            <a:off x="7772400" y="1920240"/>
            <a:ext cx="3657600" cy="411480"/>
          </a:xfrm>
          <a:prstGeom prst="rect">
            <a:avLst/>
          </a:prstGeom>
          <a:noFill/>
          <a:ln/>
        </p:spPr>
        <p:txBody>
          <a:bodyPr wrap="square" lIns="0" tIns="0" rIns="0" bIns="0" rtlCol="0" anchor="ctr"/>
          <a:lstStyle/>
          <a:p>
            <a:pPr marL="0" indent="0">
              <a:buNone/>
            </a:pPr>
            <a:r>
              <a:rPr lang="en-US" sz="1500" b="1" dirty="0">
                <a:solidFill>
                  <a:srgbClr val="BFDBFE"/>
                </a:solidFill>
                <a:latin typeface="Calibri" pitchFamily="34" charset="0"/>
                <a:ea typeface="Calibri" pitchFamily="34" charset="-122"/>
                <a:cs typeface="Calibri" pitchFamily="34" charset="-120"/>
              </a:rPr>
              <a:t>Open the form</a:t>
            </a:r>
            <a:endParaRPr lang="en-US" sz="1500" dirty="0"/>
          </a:p>
        </p:txBody>
      </p:sp>
      <p:sp>
        <p:nvSpPr>
          <p:cNvPr id="8" name="Text 6"/>
          <p:cNvSpPr/>
          <p:nvPr/>
        </p:nvSpPr>
        <p:spPr>
          <a:xfrm>
            <a:off x="7772400" y="2468880"/>
            <a:ext cx="3657600" cy="9144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forms.gle/</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sSAexDXNKPuf3hWx9</a:t>
            </a:r>
            <a:endParaRPr lang="en-US" sz="2000" dirty="0"/>
          </a:p>
        </p:txBody>
      </p:sp>
      <p:pic>
        <p:nvPicPr>
          <p:cNvPr id="10" name="Image 0" descr="EdSynapse logo"/>
          <p:cNvPicPr>
            <a:picLocks noChangeAspect="1"/>
          </p:cNvPicPr>
          <p:nvPr/>
        </p:nvPicPr>
        <p:blipFill>
          <a:blip r:embed="rId3"/>
          <a:stretch>
            <a:fillRect/>
          </a:stretch>
        </p:blipFill>
        <p:spPr>
          <a:xfrm>
            <a:off x="11265408" y="292608"/>
            <a:ext cx="640080" cy="640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E3A8A"/>
        </a:solidFill>
        <a:effectLst/>
      </p:bgPr>
    </p:bg>
    <p:spTree>
      <p:nvGrpSpPr>
        <p:cNvPr id="1" name=""/>
        <p:cNvGrpSpPr/>
        <p:nvPr/>
      </p:nvGrpSpPr>
      <p:grpSpPr>
        <a:xfrm>
          <a:off x="0" y="0"/>
          <a:ext cx="0" cy="0"/>
          <a:chOff x="0" y="0"/>
          <a:chExt cx="0" cy="0"/>
        </a:xfrm>
      </p:grpSpPr>
      <p:sp>
        <p:nvSpPr>
          <p:cNvPr id="2" name="Shape 0"/>
          <p:cNvSpPr/>
          <p:nvPr/>
        </p:nvSpPr>
        <p:spPr>
          <a:xfrm>
            <a:off x="8319654" y="-2071255"/>
            <a:ext cx="7315200" cy="7315200"/>
          </a:xfrm>
          <a:prstGeom prst="ellipse">
            <a:avLst/>
          </a:prstGeom>
          <a:solidFill>
            <a:srgbClr val="24489E"/>
          </a:solidFill>
          <a:ln/>
        </p:spPr>
        <p:txBody>
          <a:bodyPr/>
          <a:lstStyle/>
          <a:p>
            <a:endParaRPr lang="en-CA"/>
          </a:p>
        </p:txBody>
      </p:sp>
      <p:sp>
        <p:nvSpPr>
          <p:cNvPr id="3" name="Text 1"/>
          <p:cNvSpPr/>
          <p:nvPr/>
        </p:nvSpPr>
        <p:spPr>
          <a:xfrm>
            <a:off x="822960" y="2011680"/>
            <a:ext cx="10515600" cy="118872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4" name="Text 2"/>
          <p:cNvSpPr/>
          <p:nvPr/>
        </p:nvSpPr>
        <p:spPr>
          <a:xfrm>
            <a:off x="841248" y="3291840"/>
            <a:ext cx="10058400" cy="548640"/>
          </a:xfrm>
          <a:prstGeom prst="rect">
            <a:avLst/>
          </a:prstGeom>
          <a:noFill/>
          <a:ln/>
        </p:spPr>
        <p:txBody>
          <a:bodyPr wrap="square" lIns="0" tIns="0" rIns="0" bIns="0" rtlCol="0" anchor="ctr"/>
          <a:lstStyle/>
          <a:p>
            <a:pPr marL="0" indent="0">
              <a:buNone/>
            </a:pPr>
            <a:r>
              <a:rPr lang="en-US" sz="2000" dirty="0">
                <a:solidFill>
                  <a:srgbClr val="DCE7FF"/>
                </a:solidFill>
                <a:latin typeface="Calibri" pitchFamily="34" charset="0"/>
                <a:ea typeface="Calibri" pitchFamily="34" charset="-122"/>
                <a:cs typeface="Calibri" pitchFamily="34" charset="-120"/>
              </a:rPr>
              <a:t>EdSynapse — personalized, grounded AI tutoring on Vercel + Amazon Aurora.</a:t>
            </a:r>
            <a:endParaRPr lang="en-US" sz="2000" dirty="0"/>
          </a:p>
        </p:txBody>
      </p:sp>
      <p:sp>
        <p:nvSpPr>
          <p:cNvPr id="5" name="Text 3"/>
          <p:cNvSpPr/>
          <p:nvPr/>
        </p:nvSpPr>
        <p:spPr>
          <a:xfrm>
            <a:off x="841248" y="4297680"/>
            <a:ext cx="10058400" cy="365760"/>
          </a:xfrm>
          <a:prstGeom prst="rect">
            <a:avLst/>
          </a:prstGeom>
          <a:noFill/>
          <a:ln/>
        </p:spPr>
        <p:txBody>
          <a:bodyPr wrap="square" lIns="0" tIns="0" rIns="0" bIns="0" rtlCol="0" anchor="ctr"/>
          <a:lstStyle/>
          <a:p>
            <a:pPr marL="0" indent="0">
              <a:buNone/>
            </a:pPr>
            <a:r>
              <a:rPr lang="en-US" sz="1700" b="1" dirty="0">
                <a:solidFill>
                  <a:srgbClr val="BFDBFE"/>
                </a:solidFill>
                <a:latin typeface="Calibri" pitchFamily="34" charset="0"/>
                <a:ea typeface="Calibri" pitchFamily="34" charset="-122"/>
                <a:cs typeface="Calibri" pitchFamily="34" charset="-120"/>
              </a:rPr>
              <a:t>Live app:  </a:t>
            </a:r>
            <a:r>
              <a:rPr lang="en-US" sz="1700" dirty="0">
                <a:solidFill>
                  <a:srgbClr val="FFFFFF"/>
                </a:solidFill>
                <a:latin typeface="Calibri" pitchFamily="34" charset="0"/>
                <a:ea typeface="Calibri" pitchFamily="34" charset="-122"/>
                <a:cs typeface="Calibri" pitchFamily="34" charset="-120"/>
              </a:rPr>
              <a:t>https://edsynapse.com</a:t>
            </a:r>
            <a:endParaRPr lang="en-US" sz="1700" dirty="0"/>
          </a:p>
        </p:txBody>
      </p:sp>
      <p:sp>
        <p:nvSpPr>
          <p:cNvPr id="6" name="Text 4"/>
          <p:cNvSpPr/>
          <p:nvPr/>
        </p:nvSpPr>
        <p:spPr>
          <a:xfrm>
            <a:off x="841248" y="4800600"/>
            <a:ext cx="10058400" cy="365760"/>
          </a:xfrm>
          <a:prstGeom prst="rect">
            <a:avLst/>
          </a:prstGeom>
          <a:noFill/>
          <a:ln/>
        </p:spPr>
        <p:txBody>
          <a:bodyPr wrap="square" lIns="0" tIns="0" rIns="0" bIns="0" rtlCol="0" anchor="ctr"/>
          <a:lstStyle/>
          <a:p>
            <a:pPr marL="0" indent="0">
              <a:buNone/>
            </a:pPr>
            <a:r>
              <a:rPr lang="en-US" sz="1500" i="1" dirty="0">
                <a:solidFill>
                  <a:srgbClr val="B9C9EE"/>
                </a:solidFill>
                <a:latin typeface="Calibri" pitchFamily="34" charset="0"/>
                <a:ea typeface="Calibri" pitchFamily="34" charset="-122"/>
                <a:cs typeface="Calibri" pitchFamily="34" charset="-120"/>
              </a:rPr>
              <a:t>H0 Hackathon · Track 4 — Open Innovation · Awais Aziz</a:t>
            </a:r>
            <a:endParaRPr lang="en-US" sz="1500" dirty="0"/>
          </a:p>
        </p:txBody>
      </p:sp>
      <p:pic>
        <p:nvPicPr>
          <p:cNvPr id="8" name="Picture 7">
            <a:extLst>
              <a:ext uri="{FF2B5EF4-FFF2-40B4-BE49-F238E27FC236}">
                <a16:creationId xmlns:a16="http://schemas.microsoft.com/office/drawing/2014/main" id="{5387EC78-5257-5CAF-8DD9-38FEF46B5BAF}"/>
              </a:ext>
            </a:extLst>
          </p:cNvPr>
          <p:cNvPicPr>
            <a:picLocks noChangeAspect="1"/>
          </p:cNvPicPr>
          <p:nvPr/>
        </p:nvPicPr>
        <p:blipFill>
          <a:blip r:embed="rId3"/>
          <a:srcRect l="8800" t="8800" r="8800" b="8800"/>
          <a:stretch>
            <a:fillRect/>
          </a:stretch>
        </p:blipFill>
        <p:spPr>
          <a:xfrm>
            <a:off x="8731827" y="1014153"/>
            <a:ext cx="2794000" cy="2794000"/>
          </a:xfrm>
          <a:prstGeom prst="ellipse">
            <a:avLst/>
          </a:prstGeom>
        </p:spPr>
      </p:pic>
    </p:spTree>
    <p:extLst>
      <p:ext uri="{BB962C8B-B14F-4D97-AF65-F5344CB8AC3E}">
        <p14:creationId xmlns:p14="http://schemas.microsoft.com/office/powerpoint/2010/main" val="3299298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32ACCBF-56D3-40E4-94B1-2D57E5448969}">
  <we:reference id="wa200010725" version="1.0.0.1" store="en-US" storeType="OMEX"/>
  <we:alternateReferences>
    <we:reference id="WA200010725" version="1.0.0.1" store="" storeType="OMEX"/>
  </we:alternateReferences>
  <we:properties>
    <we:property name="claude.fileId" value="&quot;518cbf14-a871-4d3f-bf87-e011e80ea660&quot;"/>
  </we:properties>
  <we:bindings/>
  <we:snapshot xmlns:r="http://schemas.openxmlformats.org/officeDocument/2006/relationships"/>
</we:webextension>
</file>

<file path=ppt/webextensions/webextension2.xml><?xml version="1.0" encoding="utf-8"?>
<we:webextension xmlns:we="http://schemas.microsoft.com/office/webextensions/webextension/2010/11" id="{4031BEA0-8C5B-4854-B1E6-9A4FF504ED35}">
  <we:reference id="wa200010001" version="1.0.0.1" store="en-CA" storeType="OMEX"/>
  <we:alternateReferences>
    <we:reference id="WA200010001" version="1.0.0.1" store="" storeType="OMEX"/>
  </we:alternateReferences>
  <we:properties>
    <we:property name="claude.fileId" value="&quot;a4770453-d6da-4cd3-8cc2-6ee6ca17be5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250</TotalTime>
  <Words>1157</Words>
  <Application>Microsoft Office PowerPoint</Application>
  <PresentationFormat>Widescreen</PresentationFormat>
  <Paragraphs>121</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EdSynapse — H0 Hackathon Demo</dc:title>
  <dc:subject>PptxGenJS Presentation</dc:subject>
  <dc:creator>Awais Aziz</dc:creator>
  <cp:lastModifiedBy>Awais Aziz</cp:lastModifiedBy>
  <cp:revision>8</cp:revision>
  <dcterms:created xsi:type="dcterms:W3CDTF">2026-06-27T04:16:06Z</dcterms:created>
  <dcterms:modified xsi:type="dcterms:W3CDTF">2026-06-27T17:34:24Z</dcterms:modified>
</cp:coreProperties>
</file>